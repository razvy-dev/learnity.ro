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Barlow"/>
      <p:regular r:id="rId15"/>
    </p:embeddedFont>
    <p:embeddedFont>
      <p:font typeface="Barlow"/>
      <p:regular r:id="rId16"/>
    </p:embeddedFont>
    <p:embeddedFont>
      <p:font typeface="Barlow"/>
      <p:regular r:id="rId17"/>
    </p:embeddedFont>
    <p:embeddedFont>
      <p:font typeface="Barlow"/>
      <p:regular r:id="rId18"/>
    </p:embeddedFont>
    <p:embeddedFont>
      <p:font typeface="Montserrat"/>
      <p:regular r:id="rId19"/>
    </p:embeddedFont>
    <p:embeddedFont>
      <p:font typeface="Montserrat"/>
      <p:regular r:id="rId20"/>
    </p:embeddedFont>
    <p:embeddedFont>
      <p:font typeface="Montserrat"/>
      <p:regular r:id="rId21"/>
    </p:embeddedFont>
    <p:embeddedFont>
      <p:font typeface="Montserra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1072753"/>
            <a:ext cx="7627382" cy="1425416"/>
          </a:xfrm>
          <a:prstGeom prst="rect">
            <a:avLst/>
          </a:prstGeom>
          <a:noFill/>
          <a:ln/>
        </p:spPr>
        <p:txBody>
          <a:bodyPr wrap="square" lIns="0" tIns="0" rIns="0" bIns="0" rtlCol="0" anchor="t"/>
          <a:lstStyle/>
          <a:p>
            <a:pPr algn="l" indent="0" marL="0">
              <a:lnSpc>
                <a:spcPts val="5600"/>
              </a:lnSpc>
              <a:buNone/>
            </a:pPr>
            <a:r>
              <a:rPr lang="en-US" sz="4450" b="1" dirty="0">
                <a:solidFill>
                  <a:srgbClr val="9998FF"/>
                </a:solidFill>
                <a:latin typeface="Barlow Bold" pitchFamily="34" charset="0"/>
                <a:ea typeface="Barlow Bold" pitchFamily="34" charset="-122"/>
                <a:cs typeface="Barlow Bold" pitchFamily="34" charset="-120"/>
              </a:rPr>
              <a:t>Hazarduri în Asia: Focus pe Orientul Mijlociu</a:t>
            </a:r>
            <a:endParaRPr lang="en-US" sz="4450" dirty="0"/>
          </a:p>
        </p:txBody>
      </p:sp>
      <p:sp>
        <p:nvSpPr>
          <p:cNvPr id="4" name="Text 1"/>
          <p:cNvSpPr/>
          <p:nvPr/>
        </p:nvSpPr>
        <p:spPr>
          <a:xfrm>
            <a:off x="6244709" y="2823091"/>
            <a:ext cx="7627382" cy="2080260"/>
          </a:xfrm>
          <a:prstGeom prst="rect">
            <a:avLst/>
          </a:prstGeom>
          <a:noFill/>
          <a:ln/>
        </p:spPr>
        <p:txBody>
          <a:bodyPr wrap="square" lIns="0" tIns="0" rIns="0" bIns="0" rtlCol="0" anchor="t"/>
          <a:lstStyle/>
          <a:p>
            <a:pPr algn="l" indent="0" marL="0">
              <a:lnSpc>
                <a:spcPts val="2700"/>
              </a:lnSpc>
              <a:buNone/>
            </a:pPr>
            <a:r>
              <a:rPr lang="en-US" sz="1700" dirty="0">
                <a:solidFill>
                  <a:srgbClr val="EEEFF5"/>
                </a:solidFill>
                <a:latin typeface="Montserrat" pitchFamily="34" charset="0"/>
                <a:ea typeface="Montserrat" pitchFamily="34" charset="-122"/>
                <a:cs typeface="Montserrat" pitchFamily="34" charset="-120"/>
              </a:rPr>
              <a:t>Orientul Mijlociu reprezintă o regiune fascinantă dar fragilă, aflată la confluența unor forțe geologice, climatice și sociale care generează multiple hazarduri naturale și antropice. Această prezentare explorează principalele pericole cu care se confruntă regiunea, impactul lor asupra populațiilor locale și eforturile de adaptare la un mediu din ce în ce mai instabil.</a:t>
            </a:r>
            <a:endParaRPr lang="en-US" sz="1700" dirty="0"/>
          </a:p>
        </p:txBody>
      </p:sp>
      <p:sp>
        <p:nvSpPr>
          <p:cNvPr id="5" name="Text 2"/>
          <p:cNvSpPr/>
          <p:nvPr/>
        </p:nvSpPr>
        <p:spPr>
          <a:xfrm>
            <a:off x="6244709" y="5147072"/>
            <a:ext cx="7627382" cy="1386840"/>
          </a:xfrm>
          <a:prstGeom prst="rect">
            <a:avLst/>
          </a:prstGeom>
          <a:noFill/>
          <a:ln/>
        </p:spPr>
        <p:txBody>
          <a:bodyPr wrap="square" lIns="0" tIns="0" rIns="0" bIns="0" rtlCol="0" anchor="t"/>
          <a:lstStyle/>
          <a:p>
            <a:pPr algn="l" indent="0" marL="0">
              <a:lnSpc>
                <a:spcPts val="2700"/>
              </a:lnSpc>
              <a:buNone/>
            </a:pPr>
            <a:r>
              <a:rPr lang="en-US" sz="1700" dirty="0">
                <a:solidFill>
                  <a:srgbClr val="EEEFF5"/>
                </a:solidFill>
                <a:latin typeface="Montserrat" pitchFamily="34" charset="0"/>
                <a:ea typeface="Montserrat" pitchFamily="34" charset="-122"/>
                <a:cs typeface="Montserrat" pitchFamily="34" charset="-120"/>
              </a:rPr>
              <a:t>Vom analiza atât cauzele cât și consecințele acestor hazarduri, punând în evidență provocările unice ale unei regiuni marcate de contraste extreme: între bogăție și sărăcie, între tradiție și modernitate, între abundență și deficit de resurse naturale.</a:t>
            </a:r>
            <a:endParaRPr lang="en-US" sz="1700" dirty="0"/>
          </a:p>
        </p:txBody>
      </p:sp>
      <p:sp>
        <p:nvSpPr>
          <p:cNvPr id="6" name="Shape 3"/>
          <p:cNvSpPr/>
          <p:nvPr/>
        </p:nvSpPr>
        <p:spPr>
          <a:xfrm>
            <a:off x="6244709" y="6793825"/>
            <a:ext cx="346591" cy="346591"/>
          </a:xfrm>
          <a:prstGeom prst="roundRect">
            <a:avLst>
              <a:gd name="adj" fmla="val 26380043"/>
            </a:avLst>
          </a:prstGeom>
          <a:noFill/>
          <a:ln w="7620">
            <a:solidFill>
              <a:srgbClr val="4D4D51"/>
            </a:solidFill>
            <a:prstDash val="solid"/>
          </a:ln>
        </p:spPr>
      </p:sp>
      <p:pic>
        <p:nvPicPr>
          <p:cNvPr id="7" name="Image 1" descr="preencoded.png">    </p:cNvPr>
          <p:cNvPicPr>
            <a:picLocks noChangeAspect="1"/>
          </p:cNvPicPr>
          <p:nvPr/>
        </p:nvPicPr>
        <p:blipFill>
          <a:blip r:embed="rId2"/>
          <a:stretch>
            <a:fillRect/>
          </a:stretch>
        </p:blipFill>
        <p:spPr>
          <a:xfrm>
            <a:off x="6252329" y="6801445"/>
            <a:ext cx="331351" cy="331351"/>
          </a:xfrm>
          <a:prstGeom prst="rect">
            <a:avLst/>
          </a:prstGeom>
        </p:spPr>
      </p:pic>
      <p:sp>
        <p:nvSpPr>
          <p:cNvPr id="8" name="Text 4"/>
          <p:cNvSpPr/>
          <p:nvPr/>
        </p:nvSpPr>
        <p:spPr>
          <a:xfrm>
            <a:off x="6699528" y="6777633"/>
            <a:ext cx="3174325" cy="379214"/>
          </a:xfrm>
          <a:prstGeom prst="rect">
            <a:avLst/>
          </a:prstGeom>
          <a:noFill/>
          <a:ln/>
        </p:spPr>
        <p:txBody>
          <a:bodyPr wrap="none" lIns="0" tIns="0" rIns="0" bIns="0" rtlCol="0" anchor="t"/>
          <a:lstStyle/>
          <a:p>
            <a:pPr algn="l" indent="0" marL="0">
              <a:lnSpc>
                <a:spcPts val="2950"/>
              </a:lnSpc>
              <a:buNone/>
            </a:pPr>
            <a:r>
              <a:rPr lang="en-US" sz="2100" b="1" dirty="0">
                <a:solidFill>
                  <a:srgbClr val="EEEFF5"/>
                </a:solidFill>
                <a:latin typeface="Montserrat Bold" pitchFamily="34" charset="0"/>
                <a:ea typeface="Montserrat Bold" pitchFamily="34" charset="-122"/>
                <a:cs typeface="Montserrat Bold" pitchFamily="34" charset="-120"/>
              </a:rPr>
              <a:t>by Razvan Andronachi</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6992" y="547568"/>
            <a:ext cx="5240536" cy="655082"/>
          </a:xfrm>
          <a:prstGeom prst="rect">
            <a:avLst/>
          </a:prstGeom>
          <a:noFill/>
          <a:ln/>
        </p:spPr>
        <p:txBody>
          <a:bodyPr wrap="none" lIns="0" tIns="0" rIns="0" bIns="0" rtlCol="0" anchor="t"/>
          <a:lstStyle/>
          <a:p>
            <a:pPr algn="l" indent="0" marL="0">
              <a:lnSpc>
                <a:spcPts val="5150"/>
              </a:lnSpc>
              <a:buNone/>
            </a:pPr>
            <a:r>
              <a:rPr lang="en-US" sz="4100" b="1" dirty="0">
                <a:solidFill>
                  <a:srgbClr val="9998FF"/>
                </a:solidFill>
                <a:latin typeface="Barlow Bold" pitchFamily="34" charset="0"/>
                <a:ea typeface="Barlow Bold" pitchFamily="34" charset="-122"/>
                <a:cs typeface="Barlow Bold" pitchFamily="34" charset="-120"/>
              </a:rPr>
              <a:t>Prezentare Geografică</a:t>
            </a:r>
            <a:endParaRPr lang="en-US" sz="4100" dirty="0"/>
          </a:p>
        </p:txBody>
      </p:sp>
      <p:sp>
        <p:nvSpPr>
          <p:cNvPr id="3" name="Text 1"/>
          <p:cNvSpPr/>
          <p:nvPr/>
        </p:nvSpPr>
        <p:spPr>
          <a:xfrm>
            <a:off x="696992" y="1700332"/>
            <a:ext cx="2726531" cy="327541"/>
          </a:xfrm>
          <a:prstGeom prst="rect">
            <a:avLst/>
          </a:prstGeom>
          <a:noFill/>
          <a:ln/>
        </p:spPr>
        <p:txBody>
          <a:bodyPr wrap="none" lIns="0" tIns="0" rIns="0" bIns="0" rtlCol="0" anchor="t"/>
          <a:lstStyle/>
          <a:p>
            <a:pPr algn="l" indent="0" marL="0">
              <a:lnSpc>
                <a:spcPts val="2550"/>
              </a:lnSpc>
              <a:buNone/>
            </a:pPr>
            <a:r>
              <a:rPr lang="en-US" sz="2050" b="1" dirty="0">
                <a:solidFill>
                  <a:srgbClr val="9998FF"/>
                </a:solidFill>
                <a:latin typeface="Barlow Bold" pitchFamily="34" charset="0"/>
                <a:ea typeface="Barlow Bold" pitchFamily="34" charset="-122"/>
                <a:cs typeface="Barlow Bold" pitchFamily="34" charset="-120"/>
              </a:rPr>
              <a:t>Caracteristici regionale</a:t>
            </a:r>
            <a:endParaRPr lang="en-US" sz="2050" dirty="0"/>
          </a:p>
        </p:txBody>
      </p:sp>
      <p:sp>
        <p:nvSpPr>
          <p:cNvPr id="4" name="Text 2"/>
          <p:cNvSpPr/>
          <p:nvPr/>
        </p:nvSpPr>
        <p:spPr>
          <a:xfrm>
            <a:off x="696992" y="2226945"/>
            <a:ext cx="6375321" cy="1593056"/>
          </a:xfrm>
          <a:prstGeom prst="rect">
            <a:avLst/>
          </a:prstGeom>
          <a:noFill/>
          <a:ln/>
        </p:spPr>
        <p:txBody>
          <a:bodyPr wrap="square" lIns="0" tIns="0" rIns="0" bIns="0" rtlCol="0" anchor="t"/>
          <a:lstStyle/>
          <a:p>
            <a:pPr algn="l" indent="0" marL="0">
              <a:lnSpc>
                <a:spcPts val="2500"/>
              </a:lnSpc>
              <a:buNone/>
            </a:pPr>
            <a:r>
              <a:rPr lang="en-US" sz="1550" dirty="0">
                <a:solidFill>
                  <a:srgbClr val="EEEFF5"/>
                </a:solidFill>
                <a:latin typeface="Montserrat" pitchFamily="34" charset="0"/>
                <a:ea typeface="Montserrat" pitchFamily="34" charset="-122"/>
                <a:cs typeface="Montserrat" pitchFamily="34" charset="-120"/>
              </a:rPr>
              <a:t>Orientul Mijlociu, parte integrantă a continentului asiatic, cuprinde țările din regiunea MENA (Orientul Mijlociu și Africa de Nord). Geografia regiunii este dominată de contraste dramatice, de la deșerturi aride la lanțuri muntoase impunătoare și zone de coastă populate intens.</a:t>
            </a:r>
            <a:endParaRPr lang="en-US" sz="1550" dirty="0"/>
          </a:p>
        </p:txBody>
      </p:sp>
      <p:sp>
        <p:nvSpPr>
          <p:cNvPr id="5" name="Text 3"/>
          <p:cNvSpPr/>
          <p:nvPr/>
        </p:nvSpPr>
        <p:spPr>
          <a:xfrm>
            <a:off x="696992" y="3999190"/>
            <a:ext cx="6375321" cy="955834"/>
          </a:xfrm>
          <a:prstGeom prst="rect">
            <a:avLst/>
          </a:prstGeom>
          <a:noFill/>
          <a:ln/>
        </p:spPr>
        <p:txBody>
          <a:bodyPr wrap="square" lIns="0" tIns="0" rIns="0" bIns="0" rtlCol="0" anchor="t"/>
          <a:lstStyle/>
          <a:p>
            <a:pPr algn="l" indent="0" marL="0">
              <a:lnSpc>
                <a:spcPts val="2500"/>
              </a:lnSpc>
              <a:buNone/>
            </a:pPr>
            <a:r>
              <a:rPr lang="en-US" sz="1550" dirty="0">
                <a:solidFill>
                  <a:srgbClr val="EEEFF5"/>
                </a:solidFill>
                <a:latin typeface="Montserrat" pitchFamily="34" charset="0"/>
                <a:ea typeface="Montserrat" pitchFamily="34" charset="-122"/>
                <a:cs typeface="Montserrat" pitchFamily="34" charset="-120"/>
              </a:rPr>
              <a:t>Un aspect semnificativ al regiunii este distribuția neuniformă a populației, cu 62% dintre locuitori trăind în zone urbane, adesea în așezări neplanificate și vulnerabile la diverse hazarduri.</a:t>
            </a:r>
            <a:endParaRPr lang="en-US" sz="1550" dirty="0"/>
          </a:p>
        </p:txBody>
      </p:sp>
      <p:pic>
        <p:nvPicPr>
          <p:cNvPr id="6" name="Image 0" descr="preencoded.png">    </p:cNvPr>
          <p:cNvPicPr>
            <a:picLocks noChangeAspect="1"/>
          </p:cNvPicPr>
          <p:nvPr/>
        </p:nvPicPr>
        <p:blipFill>
          <a:blip r:embed="rId1"/>
          <a:stretch>
            <a:fillRect/>
          </a:stretch>
        </p:blipFill>
        <p:spPr>
          <a:xfrm>
            <a:off x="7565708" y="1725216"/>
            <a:ext cx="6375321" cy="4361974"/>
          </a:xfrm>
          <a:prstGeom prst="rect">
            <a:avLst/>
          </a:prstGeom>
        </p:spPr>
      </p:pic>
      <p:sp>
        <p:nvSpPr>
          <p:cNvPr id="7" name="Text 4"/>
          <p:cNvSpPr/>
          <p:nvPr/>
        </p:nvSpPr>
        <p:spPr>
          <a:xfrm>
            <a:off x="7565708" y="6311146"/>
            <a:ext cx="6375321" cy="1593056"/>
          </a:xfrm>
          <a:prstGeom prst="rect">
            <a:avLst/>
          </a:prstGeom>
          <a:noFill/>
          <a:ln/>
        </p:spPr>
        <p:txBody>
          <a:bodyPr wrap="square" lIns="0" tIns="0" rIns="0" bIns="0" rtlCol="0" anchor="t"/>
          <a:lstStyle/>
          <a:p>
            <a:pPr algn="l" indent="0" marL="0">
              <a:lnSpc>
                <a:spcPts val="2500"/>
              </a:lnSpc>
              <a:buNone/>
            </a:pPr>
            <a:r>
              <a:rPr lang="en-US" sz="1550" dirty="0">
                <a:solidFill>
                  <a:srgbClr val="EEEFF5"/>
                </a:solidFill>
                <a:latin typeface="Montserrat" pitchFamily="34" charset="0"/>
                <a:ea typeface="Montserrat" pitchFamily="34" charset="-122"/>
                <a:cs typeface="Montserrat" pitchFamily="34" charset="-120"/>
              </a:rPr>
              <a:t>Doar 3% din suprafața regiunii susține 92% din populația sa, creând o presiune enormă asupra resurselor și infrastructurii. Această concentrare demografică, combinată cu factorii geologici și climatici, amplifică vulnerabilitatea la hazardurile naturale.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08422" y="556617"/>
            <a:ext cx="7353181" cy="665798"/>
          </a:xfrm>
          <a:prstGeom prst="rect">
            <a:avLst/>
          </a:prstGeom>
          <a:noFill/>
          <a:ln/>
        </p:spPr>
        <p:txBody>
          <a:bodyPr wrap="none" lIns="0" tIns="0" rIns="0" bIns="0" rtlCol="0" anchor="t"/>
          <a:lstStyle/>
          <a:p>
            <a:pPr algn="l" indent="0" marL="0">
              <a:lnSpc>
                <a:spcPts val="5200"/>
              </a:lnSpc>
              <a:buNone/>
            </a:pPr>
            <a:r>
              <a:rPr lang="en-US" sz="4150" b="1" dirty="0">
                <a:solidFill>
                  <a:srgbClr val="9998FF"/>
                </a:solidFill>
                <a:latin typeface="Barlow Bold" pitchFamily="34" charset="0"/>
                <a:ea typeface="Barlow Bold" pitchFamily="34" charset="-122"/>
                <a:cs typeface="Barlow Bold" pitchFamily="34" charset="-120"/>
              </a:rPr>
              <a:t>Principalele Tipuri de Hazarduri</a:t>
            </a:r>
            <a:endParaRPr lang="en-US" sz="4150" dirty="0"/>
          </a:p>
        </p:txBody>
      </p:sp>
      <p:pic>
        <p:nvPicPr>
          <p:cNvPr id="3" name="Image 0" descr="preencoded.png">    </p:cNvPr>
          <p:cNvPicPr>
            <a:picLocks noChangeAspect="1"/>
          </p:cNvPicPr>
          <p:nvPr/>
        </p:nvPicPr>
        <p:blipFill>
          <a:blip r:embed="rId1"/>
          <a:stretch>
            <a:fillRect/>
          </a:stretch>
        </p:blipFill>
        <p:spPr>
          <a:xfrm>
            <a:off x="2921675" y="1627227"/>
            <a:ext cx="2180153" cy="1183005"/>
          </a:xfrm>
          <a:prstGeom prst="rect">
            <a:avLst/>
          </a:prstGeom>
        </p:spPr>
      </p:pic>
      <p:pic>
        <p:nvPicPr>
          <p:cNvPr id="4" name="Image 1" descr="preencoded.png">    </p:cNvPr>
          <p:cNvPicPr>
            <a:picLocks noChangeAspect="1"/>
          </p:cNvPicPr>
          <p:nvPr/>
        </p:nvPicPr>
        <p:blipFill>
          <a:blip r:embed="rId2"/>
          <a:stretch>
            <a:fillRect/>
          </a:stretch>
        </p:blipFill>
        <p:spPr>
          <a:xfrm>
            <a:off x="3869412" y="2187893"/>
            <a:ext cx="284559" cy="355759"/>
          </a:xfrm>
          <a:prstGeom prst="rect">
            <a:avLst/>
          </a:prstGeom>
        </p:spPr>
      </p:pic>
      <p:sp>
        <p:nvSpPr>
          <p:cNvPr id="5" name="Text 1"/>
          <p:cNvSpPr/>
          <p:nvPr/>
        </p:nvSpPr>
        <p:spPr>
          <a:xfrm>
            <a:off x="5304234" y="1829633"/>
            <a:ext cx="2663309" cy="332899"/>
          </a:xfrm>
          <a:prstGeom prst="rect">
            <a:avLst/>
          </a:prstGeom>
          <a:noFill/>
          <a:ln/>
        </p:spPr>
        <p:txBody>
          <a:bodyPr wrap="none" lIns="0" tIns="0" rIns="0" bIns="0" rtlCol="0" anchor="t"/>
          <a:lstStyle/>
          <a:p>
            <a:pPr algn="l" indent="0" marL="0">
              <a:lnSpc>
                <a:spcPts val="2600"/>
              </a:lnSpc>
              <a:buNone/>
            </a:pPr>
            <a:r>
              <a:rPr lang="en-US" sz="2050" b="1" dirty="0">
                <a:solidFill>
                  <a:srgbClr val="EEEFF5"/>
                </a:solidFill>
                <a:latin typeface="Barlow Bold" pitchFamily="34" charset="0"/>
                <a:ea typeface="Barlow Bold" pitchFamily="34" charset="-122"/>
                <a:cs typeface="Barlow Bold" pitchFamily="34" charset="-120"/>
              </a:rPr>
              <a:t>Hazarduri Extreme</a:t>
            </a:r>
            <a:endParaRPr lang="en-US" sz="2050" dirty="0"/>
          </a:p>
        </p:txBody>
      </p:sp>
      <p:sp>
        <p:nvSpPr>
          <p:cNvPr id="6" name="Text 2"/>
          <p:cNvSpPr/>
          <p:nvPr/>
        </p:nvSpPr>
        <p:spPr>
          <a:xfrm>
            <a:off x="5304234" y="2283976"/>
            <a:ext cx="3349347" cy="323850"/>
          </a:xfrm>
          <a:prstGeom prst="rect">
            <a:avLst/>
          </a:prstGeom>
          <a:noFill/>
          <a:ln/>
        </p:spPr>
        <p:txBody>
          <a:bodyPr wrap="none" lIns="0" tIns="0" rIns="0" bIns="0" rtlCol="0" anchor="t"/>
          <a:lstStyle/>
          <a:p>
            <a:pPr algn="l" indent="0" marL="0">
              <a:lnSpc>
                <a:spcPts val="2550"/>
              </a:lnSpc>
              <a:buNone/>
            </a:pPr>
            <a:r>
              <a:rPr lang="en-US" sz="1550" dirty="0">
                <a:solidFill>
                  <a:srgbClr val="EEEFF5"/>
                </a:solidFill>
                <a:latin typeface="Montserrat" pitchFamily="34" charset="0"/>
                <a:ea typeface="Montserrat" pitchFamily="34" charset="-122"/>
                <a:cs typeface="Montserrat" pitchFamily="34" charset="-120"/>
              </a:rPr>
              <a:t>Cutremure, inundații catastrofale</a:t>
            </a:r>
            <a:endParaRPr lang="en-US" sz="1550" dirty="0"/>
          </a:p>
        </p:txBody>
      </p:sp>
      <p:sp>
        <p:nvSpPr>
          <p:cNvPr id="7" name="Shape 3"/>
          <p:cNvSpPr/>
          <p:nvPr/>
        </p:nvSpPr>
        <p:spPr>
          <a:xfrm>
            <a:off x="5152430" y="2825948"/>
            <a:ext cx="8718947" cy="11430"/>
          </a:xfrm>
          <a:prstGeom prst="roundRect">
            <a:avLst>
              <a:gd name="adj" fmla="val 1593840"/>
            </a:avLst>
          </a:prstGeom>
          <a:solidFill>
            <a:srgbClr val="60646A"/>
          </a:solidFill>
          <a:ln/>
        </p:spPr>
      </p:sp>
      <p:pic>
        <p:nvPicPr>
          <p:cNvPr id="8" name="Image 2" descr="preencoded.png">    </p:cNvPr>
          <p:cNvPicPr>
            <a:picLocks noChangeAspect="1"/>
          </p:cNvPicPr>
          <p:nvPr/>
        </p:nvPicPr>
        <p:blipFill>
          <a:blip r:embed="rId3"/>
          <a:stretch>
            <a:fillRect/>
          </a:stretch>
        </p:blipFill>
        <p:spPr>
          <a:xfrm>
            <a:off x="1831538" y="2860834"/>
            <a:ext cx="4360426" cy="1183005"/>
          </a:xfrm>
          <a:prstGeom prst="rect">
            <a:avLst/>
          </a:prstGeom>
        </p:spPr>
      </p:pic>
      <p:pic>
        <p:nvPicPr>
          <p:cNvPr id="9" name="Image 3" descr="preencoded.png">    </p:cNvPr>
          <p:cNvPicPr>
            <a:picLocks noChangeAspect="1"/>
          </p:cNvPicPr>
          <p:nvPr/>
        </p:nvPicPr>
        <p:blipFill>
          <a:blip r:embed="rId4"/>
          <a:stretch>
            <a:fillRect/>
          </a:stretch>
        </p:blipFill>
        <p:spPr>
          <a:xfrm>
            <a:off x="3869412" y="3274457"/>
            <a:ext cx="284559" cy="355759"/>
          </a:xfrm>
          <a:prstGeom prst="rect">
            <a:avLst/>
          </a:prstGeom>
        </p:spPr>
      </p:pic>
      <p:sp>
        <p:nvSpPr>
          <p:cNvPr id="10" name="Text 4"/>
          <p:cNvSpPr/>
          <p:nvPr/>
        </p:nvSpPr>
        <p:spPr>
          <a:xfrm>
            <a:off x="6394371" y="3063240"/>
            <a:ext cx="2663309" cy="332899"/>
          </a:xfrm>
          <a:prstGeom prst="rect">
            <a:avLst/>
          </a:prstGeom>
          <a:noFill/>
          <a:ln/>
        </p:spPr>
        <p:txBody>
          <a:bodyPr wrap="none" lIns="0" tIns="0" rIns="0" bIns="0" rtlCol="0" anchor="t"/>
          <a:lstStyle/>
          <a:p>
            <a:pPr algn="l" indent="0" marL="0">
              <a:lnSpc>
                <a:spcPts val="2600"/>
              </a:lnSpc>
              <a:buNone/>
            </a:pPr>
            <a:r>
              <a:rPr lang="en-US" sz="2050" b="1" dirty="0">
                <a:solidFill>
                  <a:srgbClr val="EEEFF5"/>
                </a:solidFill>
                <a:latin typeface="Barlow Bold" pitchFamily="34" charset="0"/>
                <a:ea typeface="Barlow Bold" pitchFamily="34" charset="-122"/>
                <a:cs typeface="Barlow Bold" pitchFamily="34" charset="-120"/>
              </a:rPr>
              <a:t>Hazarduri Climatice</a:t>
            </a:r>
            <a:endParaRPr lang="en-US" sz="2050" dirty="0"/>
          </a:p>
        </p:txBody>
      </p:sp>
      <p:sp>
        <p:nvSpPr>
          <p:cNvPr id="11" name="Text 5"/>
          <p:cNvSpPr/>
          <p:nvPr/>
        </p:nvSpPr>
        <p:spPr>
          <a:xfrm>
            <a:off x="6394371" y="3517583"/>
            <a:ext cx="3332559" cy="323850"/>
          </a:xfrm>
          <a:prstGeom prst="rect">
            <a:avLst/>
          </a:prstGeom>
          <a:noFill/>
          <a:ln/>
        </p:spPr>
        <p:txBody>
          <a:bodyPr wrap="none" lIns="0" tIns="0" rIns="0" bIns="0" rtlCol="0" anchor="t"/>
          <a:lstStyle/>
          <a:p>
            <a:pPr algn="l" indent="0" marL="0">
              <a:lnSpc>
                <a:spcPts val="2550"/>
              </a:lnSpc>
              <a:buNone/>
            </a:pPr>
            <a:r>
              <a:rPr lang="en-US" sz="1550" dirty="0">
                <a:solidFill>
                  <a:srgbClr val="EEEFF5"/>
                </a:solidFill>
                <a:latin typeface="Montserrat" pitchFamily="34" charset="0"/>
                <a:ea typeface="Montserrat" pitchFamily="34" charset="-122"/>
                <a:cs typeface="Montserrat" pitchFamily="34" charset="-120"/>
              </a:rPr>
              <a:t>Valuri de căldură, furtuni de nisip</a:t>
            </a:r>
            <a:endParaRPr lang="en-US" sz="1550" dirty="0"/>
          </a:p>
        </p:txBody>
      </p:sp>
      <p:sp>
        <p:nvSpPr>
          <p:cNvPr id="12" name="Shape 6"/>
          <p:cNvSpPr/>
          <p:nvPr/>
        </p:nvSpPr>
        <p:spPr>
          <a:xfrm>
            <a:off x="6242566" y="4059555"/>
            <a:ext cx="7628811" cy="11430"/>
          </a:xfrm>
          <a:prstGeom prst="roundRect">
            <a:avLst>
              <a:gd name="adj" fmla="val 1593840"/>
            </a:avLst>
          </a:prstGeom>
          <a:solidFill>
            <a:srgbClr val="60646A"/>
          </a:solidFill>
          <a:ln/>
        </p:spPr>
      </p:sp>
      <p:pic>
        <p:nvPicPr>
          <p:cNvPr id="13" name="Image 4" descr="preencoded.png">    </p:cNvPr>
          <p:cNvPicPr>
            <a:picLocks noChangeAspect="1"/>
          </p:cNvPicPr>
          <p:nvPr/>
        </p:nvPicPr>
        <p:blipFill>
          <a:blip r:embed="rId5"/>
          <a:stretch>
            <a:fillRect/>
          </a:stretch>
        </p:blipFill>
        <p:spPr>
          <a:xfrm>
            <a:off x="741402" y="4094440"/>
            <a:ext cx="6540698" cy="1183005"/>
          </a:xfrm>
          <a:prstGeom prst="rect">
            <a:avLst/>
          </a:prstGeom>
        </p:spPr>
      </p:pic>
      <p:pic>
        <p:nvPicPr>
          <p:cNvPr id="14" name="Image 5" descr="preencoded.png">    </p:cNvPr>
          <p:cNvPicPr>
            <a:picLocks noChangeAspect="1"/>
          </p:cNvPicPr>
          <p:nvPr/>
        </p:nvPicPr>
        <p:blipFill>
          <a:blip r:embed="rId6"/>
          <a:stretch>
            <a:fillRect/>
          </a:stretch>
        </p:blipFill>
        <p:spPr>
          <a:xfrm>
            <a:off x="3869412" y="4508063"/>
            <a:ext cx="284559" cy="355759"/>
          </a:xfrm>
          <a:prstGeom prst="rect">
            <a:avLst/>
          </a:prstGeom>
        </p:spPr>
      </p:pic>
      <p:sp>
        <p:nvSpPr>
          <p:cNvPr id="15" name="Text 7"/>
          <p:cNvSpPr/>
          <p:nvPr/>
        </p:nvSpPr>
        <p:spPr>
          <a:xfrm>
            <a:off x="7484507" y="4296847"/>
            <a:ext cx="2663309" cy="332899"/>
          </a:xfrm>
          <a:prstGeom prst="rect">
            <a:avLst/>
          </a:prstGeom>
          <a:noFill/>
          <a:ln/>
        </p:spPr>
        <p:txBody>
          <a:bodyPr wrap="none" lIns="0" tIns="0" rIns="0" bIns="0" rtlCol="0" anchor="t"/>
          <a:lstStyle/>
          <a:p>
            <a:pPr algn="l" indent="0" marL="0">
              <a:lnSpc>
                <a:spcPts val="2600"/>
              </a:lnSpc>
              <a:buNone/>
            </a:pPr>
            <a:r>
              <a:rPr lang="en-US" sz="2050" b="1" dirty="0">
                <a:solidFill>
                  <a:srgbClr val="EEEFF5"/>
                </a:solidFill>
                <a:latin typeface="Barlow Bold" pitchFamily="34" charset="0"/>
                <a:ea typeface="Barlow Bold" pitchFamily="34" charset="-122"/>
                <a:cs typeface="Barlow Bold" pitchFamily="34" charset="-120"/>
              </a:rPr>
              <a:t>Hazarduri Hidrologice</a:t>
            </a:r>
            <a:endParaRPr lang="en-US" sz="2050" dirty="0"/>
          </a:p>
        </p:txBody>
      </p:sp>
      <p:sp>
        <p:nvSpPr>
          <p:cNvPr id="16" name="Text 8"/>
          <p:cNvSpPr/>
          <p:nvPr/>
        </p:nvSpPr>
        <p:spPr>
          <a:xfrm>
            <a:off x="7484507" y="4751189"/>
            <a:ext cx="3151346" cy="323850"/>
          </a:xfrm>
          <a:prstGeom prst="rect">
            <a:avLst/>
          </a:prstGeom>
          <a:noFill/>
          <a:ln/>
        </p:spPr>
        <p:txBody>
          <a:bodyPr wrap="none" lIns="0" tIns="0" rIns="0" bIns="0" rtlCol="0" anchor="t"/>
          <a:lstStyle/>
          <a:p>
            <a:pPr algn="l" indent="0" marL="0">
              <a:lnSpc>
                <a:spcPts val="2550"/>
              </a:lnSpc>
              <a:buNone/>
            </a:pPr>
            <a:r>
              <a:rPr lang="en-US" sz="1550" dirty="0">
                <a:solidFill>
                  <a:srgbClr val="EEEFF5"/>
                </a:solidFill>
                <a:latin typeface="Montserrat" pitchFamily="34" charset="0"/>
                <a:ea typeface="Montserrat" pitchFamily="34" charset="-122"/>
                <a:cs typeface="Montserrat" pitchFamily="34" charset="-120"/>
              </a:rPr>
              <a:t>Secetă, deficit de apă, inundații</a:t>
            </a:r>
            <a:endParaRPr lang="en-US" sz="1550" dirty="0"/>
          </a:p>
        </p:txBody>
      </p:sp>
      <p:sp>
        <p:nvSpPr>
          <p:cNvPr id="17" name="Text 9"/>
          <p:cNvSpPr/>
          <p:nvPr/>
        </p:nvSpPr>
        <p:spPr>
          <a:xfrm>
            <a:off x="708422" y="5505093"/>
            <a:ext cx="13213556" cy="971550"/>
          </a:xfrm>
          <a:prstGeom prst="rect">
            <a:avLst/>
          </a:prstGeom>
          <a:noFill/>
          <a:ln/>
        </p:spPr>
        <p:txBody>
          <a:bodyPr wrap="square" lIns="0" tIns="0" rIns="0" bIns="0" rtlCol="0" anchor="t"/>
          <a:lstStyle/>
          <a:p>
            <a:pPr algn="l" indent="0" marL="0">
              <a:lnSpc>
                <a:spcPts val="2550"/>
              </a:lnSpc>
              <a:buNone/>
            </a:pPr>
            <a:r>
              <a:rPr lang="en-US" sz="1550" dirty="0">
                <a:solidFill>
                  <a:srgbClr val="EEEFF5"/>
                </a:solidFill>
                <a:latin typeface="Montserrat" pitchFamily="34" charset="0"/>
                <a:ea typeface="Montserrat" pitchFamily="34" charset="-122"/>
                <a:cs typeface="Montserrat" pitchFamily="34" charset="-120"/>
              </a:rPr>
              <a:t>Orientul Mijlociu se confruntă cu o diversitate de hazarduri naturale, dintre care cele mai frecvente și devastatoare sunt inundațiile, cutremurele și secetele. Aceste fenomene sunt exacerbate de schimbările climatice și de intervențiile umane asupra mediului natural.</a:t>
            </a:r>
            <a:endParaRPr lang="en-US" sz="1550" dirty="0"/>
          </a:p>
        </p:txBody>
      </p:sp>
      <p:sp>
        <p:nvSpPr>
          <p:cNvPr id="18" name="Text 10"/>
          <p:cNvSpPr/>
          <p:nvPr/>
        </p:nvSpPr>
        <p:spPr>
          <a:xfrm>
            <a:off x="708422" y="6704290"/>
            <a:ext cx="13213556" cy="971550"/>
          </a:xfrm>
          <a:prstGeom prst="rect">
            <a:avLst/>
          </a:prstGeom>
          <a:noFill/>
          <a:ln/>
        </p:spPr>
        <p:txBody>
          <a:bodyPr wrap="square" lIns="0" tIns="0" rIns="0" bIns="0" rtlCol="0" anchor="t"/>
          <a:lstStyle/>
          <a:p>
            <a:pPr algn="l" indent="0" marL="0">
              <a:lnSpc>
                <a:spcPts val="2550"/>
              </a:lnSpc>
              <a:buNone/>
            </a:pPr>
            <a:r>
              <a:rPr lang="en-US" sz="1550" dirty="0">
                <a:solidFill>
                  <a:srgbClr val="EEEFF5"/>
                </a:solidFill>
                <a:latin typeface="Montserrat" pitchFamily="34" charset="0"/>
                <a:ea typeface="Montserrat" pitchFamily="34" charset="-122"/>
                <a:cs typeface="Montserrat" pitchFamily="34" charset="-120"/>
              </a:rPr>
              <a:t>Alte riscuri semnificative includ valurile de căldură extremă, deficitul cronic de apă și furtunile, care afectează în mod disproporționat zonele urbane dens populate. Aceste hazarduri se manifestă adesea într-un context de instabilitate politică și economică, amplificând impactul lor asupra comunităților vulnerabile.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80415" y="1024771"/>
            <a:ext cx="6384012" cy="652224"/>
          </a:xfrm>
          <a:prstGeom prst="rect">
            <a:avLst/>
          </a:prstGeom>
          <a:noFill/>
          <a:ln/>
        </p:spPr>
        <p:txBody>
          <a:bodyPr wrap="none" lIns="0" tIns="0" rIns="0" bIns="0" rtlCol="0" anchor="t"/>
          <a:lstStyle/>
          <a:p>
            <a:pPr algn="l" indent="0" marL="0">
              <a:lnSpc>
                <a:spcPts val="5100"/>
              </a:lnSpc>
              <a:buNone/>
            </a:pPr>
            <a:r>
              <a:rPr lang="en-US" sz="4100" b="1" dirty="0">
                <a:solidFill>
                  <a:srgbClr val="9998FF"/>
                </a:solidFill>
                <a:latin typeface="Barlow Bold" pitchFamily="34" charset="0"/>
                <a:ea typeface="Barlow Bold" pitchFamily="34" charset="-122"/>
                <a:cs typeface="Barlow Bold" pitchFamily="34" charset="-120"/>
              </a:rPr>
              <a:t>Inundațiile în Zonele Urbane</a:t>
            </a:r>
            <a:endParaRPr lang="en-US" sz="4100" dirty="0"/>
          </a:p>
        </p:txBody>
      </p:sp>
      <p:sp>
        <p:nvSpPr>
          <p:cNvPr id="4" name="Shape 1"/>
          <p:cNvSpPr/>
          <p:nvPr/>
        </p:nvSpPr>
        <p:spPr>
          <a:xfrm>
            <a:off x="6180415" y="1974413"/>
            <a:ext cx="446127" cy="446127"/>
          </a:xfrm>
          <a:prstGeom prst="roundRect">
            <a:avLst>
              <a:gd name="adj" fmla="val 40004"/>
            </a:avLst>
          </a:prstGeom>
          <a:solidFill>
            <a:srgbClr val="282C32"/>
          </a:solidFill>
          <a:ln/>
          <a:effectLst>
            <a:outerShdw sx="100000" sy="100000" kx="0" ky="0" algn="bl" rotWithShape="0" blurRad="49530" dist="24130" dir="13500000">
              <a:srgbClr val="ffffff">
                <a:alpha val="10000"/>
              </a:srgbClr>
            </a:outerShdw>
          </a:effectLst>
        </p:spPr>
      </p:sp>
      <p:pic>
        <p:nvPicPr>
          <p:cNvPr id="5" name="Image 1" descr="preencoded.png">    </p:cNvPr>
          <p:cNvPicPr>
            <a:picLocks noChangeAspect="1"/>
          </p:cNvPicPr>
          <p:nvPr/>
        </p:nvPicPr>
        <p:blipFill>
          <a:blip r:embed="rId2"/>
          <a:stretch>
            <a:fillRect/>
          </a:stretch>
        </p:blipFill>
        <p:spPr>
          <a:xfrm>
            <a:off x="6246912" y="2001738"/>
            <a:ext cx="313015" cy="391358"/>
          </a:xfrm>
          <a:prstGeom prst="rect">
            <a:avLst/>
          </a:prstGeom>
        </p:spPr>
      </p:pic>
      <p:sp>
        <p:nvSpPr>
          <p:cNvPr id="6" name="Text 2"/>
          <p:cNvSpPr/>
          <p:nvPr/>
        </p:nvSpPr>
        <p:spPr>
          <a:xfrm>
            <a:off x="6824782" y="2042517"/>
            <a:ext cx="2609136" cy="325993"/>
          </a:xfrm>
          <a:prstGeom prst="rect">
            <a:avLst/>
          </a:prstGeom>
          <a:noFill/>
          <a:ln/>
        </p:spPr>
        <p:txBody>
          <a:bodyPr wrap="none" lIns="0" tIns="0" rIns="0" bIns="0" rtlCol="0" anchor="t"/>
          <a:lstStyle/>
          <a:p>
            <a:pPr algn="l" indent="0" marL="0">
              <a:lnSpc>
                <a:spcPts val="2550"/>
              </a:lnSpc>
              <a:buNone/>
            </a:pPr>
            <a:r>
              <a:rPr lang="en-US" sz="2050" b="1" dirty="0">
                <a:solidFill>
                  <a:srgbClr val="EEEFF5"/>
                </a:solidFill>
                <a:latin typeface="Barlow Bold" pitchFamily="34" charset="0"/>
                <a:ea typeface="Barlow Bold" pitchFamily="34" charset="-122"/>
                <a:cs typeface="Barlow Bold" pitchFamily="34" charset="-120"/>
              </a:rPr>
              <a:t>Vulnerabilitate urbană</a:t>
            </a:r>
            <a:endParaRPr lang="en-US" sz="2050" dirty="0"/>
          </a:p>
        </p:txBody>
      </p:sp>
      <p:sp>
        <p:nvSpPr>
          <p:cNvPr id="7" name="Text 3"/>
          <p:cNvSpPr/>
          <p:nvPr/>
        </p:nvSpPr>
        <p:spPr>
          <a:xfrm>
            <a:off x="6824782" y="2487454"/>
            <a:ext cx="3109793" cy="2538413"/>
          </a:xfrm>
          <a:prstGeom prst="rect">
            <a:avLst/>
          </a:prstGeom>
          <a:noFill/>
          <a:ln/>
        </p:spPr>
        <p:txBody>
          <a:bodyPr wrap="square" lIns="0" tIns="0" rIns="0" bIns="0" rtlCol="0" anchor="t"/>
          <a:lstStyle/>
          <a:p>
            <a:pPr algn="l" indent="0" marL="0">
              <a:lnSpc>
                <a:spcPts val="2450"/>
              </a:lnSpc>
              <a:buNone/>
            </a:pPr>
            <a:r>
              <a:rPr lang="en-US" sz="1550" dirty="0">
                <a:solidFill>
                  <a:srgbClr val="EEEFF5"/>
                </a:solidFill>
                <a:latin typeface="Montserrat" pitchFamily="34" charset="0"/>
                <a:ea typeface="Montserrat" pitchFamily="34" charset="-122"/>
                <a:cs typeface="Montserrat" pitchFamily="34" charset="-120"/>
              </a:rPr>
              <a:t>Inundațiile urbane sunt frecvente din cauza sistemelor de drenaj deficitare și a protecției limitate împotriva viiturilor. Infrastructura inadecvată nu poate face față precipitațiilor intense, chiar și în regiuni predominant aride.</a:t>
            </a:r>
            <a:endParaRPr lang="en-US" sz="1550" dirty="0"/>
          </a:p>
        </p:txBody>
      </p:sp>
      <p:sp>
        <p:nvSpPr>
          <p:cNvPr id="8" name="Shape 4"/>
          <p:cNvSpPr/>
          <p:nvPr/>
        </p:nvSpPr>
        <p:spPr>
          <a:xfrm>
            <a:off x="10182344" y="1974413"/>
            <a:ext cx="446127" cy="446127"/>
          </a:xfrm>
          <a:prstGeom prst="roundRect">
            <a:avLst>
              <a:gd name="adj" fmla="val 40004"/>
            </a:avLst>
          </a:prstGeom>
          <a:solidFill>
            <a:srgbClr val="282C32"/>
          </a:solidFill>
          <a:ln/>
          <a:effectLst>
            <a:outerShdw sx="100000" sy="100000" kx="0" ky="0" algn="bl" rotWithShape="0" blurRad="49530" dist="24130" dir="13500000">
              <a:srgbClr val="ffffff">
                <a:alpha val="10000"/>
              </a:srgbClr>
            </a:outerShdw>
          </a:effectLst>
        </p:spPr>
      </p:sp>
      <p:pic>
        <p:nvPicPr>
          <p:cNvPr id="9" name="Image 2" descr="preencoded.png">    </p:cNvPr>
          <p:cNvPicPr>
            <a:picLocks noChangeAspect="1"/>
          </p:cNvPicPr>
          <p:nvPr/>
        </p:nvPicPr>
        <p:blipFill>
          <a:blip r:embed="rId3"/>
          <a:stretch>
            <a:fillRect/>
          </a:stretch>
        </p:blipFill>
        <p:spPr>
          <a:xfrm>
            <a:off x="10248840" y="2001738"/>
            <a:ext cx="313015" cy="391358"/>
          </a:xfrm>
          <a:prstGeom prst="rect">
            <a:avLst/>
          </a:prstGeom>
        </p:spPr>
      </p:pic>
      <p:sp>
        <p:nvSpPr>
          <p:cNvPr id="10" name="Text 5"/>
          <p:cNvSpPr/>
          <p:nvPr/>
        </p:nvSpPr>
        <p:spPr>
          <a:xfrm>
            <a:off x="10826710" y="2042517"/>
            <a:ext cx="2993708" cy="325993"/>
          </a:xfrm>
          <a:prstGeom prst="rect">
            <a:avLst/>
          </a:prstGeom>
          <a:noFill/>
          <a:ln/>
        </p:spPr>
        <p:txBody>
          <a:bodyPr wrap="none" lIns="0" tIns="0" rIns="0" bIns="0" rtlCol="0" anchor="t"/>
          <a:lstStyle/>
          <a:p>
            <a:pPr algn="l" indent="0" marL="0">
              <a:lnSpc>
                <a:spcPts val="2550"/>
              </a:lnSpc>
              <a:buNone/>
            </a:pPr>
            <a:r>
              <a:rPr lang="en-US" sz="2050" b="1" dirty="0">
                <a:solidFill>
                  <a:srgbClr val="EEEFF5"/>
                </a:solidFill>
                <a:latin typeface="Barlow Bold" pitchFamily="34" charset="0"/>
                <a:ea typeface="Barlow Bold" pitchFamily="34" charset="-122"/>
                <a:cs typeface="Barlow Bold" pitchFamily="34" charset="-120"/>
              </a:rPr>
              <a:t>Expansiune urbană rapidă</a:t>
            </a:r>
            <a:endParaRPr lang="en-US" sz="2050" dirty="0"/>
          </a:p>
        </p:txBody>
      </p:sp>
      <p:sp>
        <p:nvSpPr>
          <p:cNvPr id="11" name="Text 6"/>
          <p:cNvSpPr/>
          <p:nvPr/>
        </p:nvSpPr>
        <p:spPr>
          <a:xfrm>
            <a:off x="10826710" y="2487454"/>
            <a:ext cx="3109793" cy="2538413"/>
          </a:xfrm>
          <a:prstGeom prst="rect">
            <a:avLst/>
          </a:prstGeom>
          <a:noFill/>
          <a:ln/>
        </p:spPr>
        <p:txBody>
          <a:bodyPr wrap="square" lIns="0" tIns="0" rIns="0" bIns="0" rtlCol="0" anchor="t"/>
          <a:lstStyle/>
          <a:p>
            <a:pPr algn="l" indent="0" marL="0">
              <a:lnSpc>
                <a:spcPts val="2450"/>
              </a:lnSpc>
              <a:buNone/>
            </a:pPr>
            <a:r>
              <a:rPr lang="en-US" sz="1550" dirty="0">
                <a:solidFill>
                  <a:srgbClr val="EEEFF5"/>
                </a:solidFill>
                <a:latin typeface="Montserrat" pitchFamily="34" charset="0"/>
                <a:ea typeface="Montserrat" pitchFamily="34" charset="-122"/>
                <a:cs typeface="Montserrat" pitchFamily="34" charset="-120"/>
              </a:rPr>
              <a:t>Dezvoltarea urbană neplanificată și expansiunea rapidă a așezărilor informale cresc vulnerabilitatea la inundații. Construcțiile în zone inundabile și impermeabilizarea solului amplifică riscurile.</a:t>
            </a:r>
            <a:endParaRPr lang="en-US" sz="1550" dirty="0"/>
          </a:p>
        </p:txBody>
      </p:sp>
      <p:sp>
        <p:nvSpPr>
          <p:cNvPr id="12" name="Shape 7"/>
          <p:cNvSpPr/>
          <p:nvPr/>
        </p:nvSpPr>
        <p:spPr>
          <a:xfrm>
            <a:off x="6180415" y="5422463"/>
            <a:ext cx="446127" cy="446127"/>
          </a:xfrm>
          <a:prstGeom prst="roundRect">
            <a:avLst>
              <a:gd name="adj" fmla="val 40004"/>
            </a:avLst>
          </a:prstGeom>
          <a:solidFill>
            <a:srgbClr val="282C32"/>
          </a:solidFill>
          <a:ln/>
          <a:effectLst>
            <a:outerShdw sx="100000" sy="100000" kx="0" ky="0" algn="bl" rotWithShape="0" blurRad="49530" dist="24130" dir="13500000">
              <a:srgbClr val="ffffff">
                <a:alpha val="10000"/>
              </a:srgbClr>
            </a:outerShdw>
          </a:effectLst>
        </p:spPr>
      </p:sp>
      <p:pic>
        <p:nvPicPr>
          <p:cNvPr id="13" name="Image 3" descr="preencoded.png">    </p:cNvPr>
          <p:cNvPicPr>
            <a:picLocks noChangeAspect="1"/>
          </p:cNvPicPr>
          <p:nvPr/>
        </p:nvPicPr>
        <p:blipFill>
          <a:blip r:embed="rId4"/>
          <a:stretch>
            <a:fillRect/>
          </a:stretch>
        </p:blipFill>
        <p:spPr>
          <a:xfrm>
            <a:off x="6246912" y="5449788"/>
            <a:ext cx="313015" cy="391358"/>
          </a:xfrm>
          <a:prstGeom prst="rect">
            <a:avLst/>
          </a:prstGeom>
        </p:spPr>
      </p:pic>
      <p:sp>
        <p:nvSpPr>
          <p:cNvPr id="14" name="Text 8"/>
          <p:cNvSpPr/>
          <p:nvPr/>
        </p:nvSpPr>
        <p:spPr>
          <a:xfrm>
            <a:off x="6824782" y="5490567"/>
            <a:ext cx="3697605" cy="325993"/>
          </a:xfrm>
          <a:prstGeom prst="rect">
            <a:avLst/>
          </a:prstGeom>
          <a:noFill/>
          <a:ln/>
        </p:spPr>
        <p:txBody>
          <a:bodyPr wrap="none" lIns="0" tIns="0" rIns="0" bIns="0" rtlCol="0" anchor="t"/>
          <a:lstStyle/>
          <a:p>
            <a:pPr algn="l" indent="0" marL="0">
              <a:lnSpc>
                <a:spcPts val="2550"/>
              </a:lnSpc>
              <a:buNone/>
            </a:pPr>
            <a:r>
              <a:rPr lang="en-US" sz="2050" b="1" dirty="0">
                <a:solidFill>
                  <a:srgbClr val="EEEFF5"/>
                </a:solidFill>
                <a:latin typeface="Barlow Bold" pitchFamily="34" charset="0"/>
                <a:ea typeface="Barlow Bold" pitchFamily="34" charset="-122"/>
                <a:cs typeface="Barlow Bold" pitchFamily="34" charset="-120"/>
              </a:rPr>
              <a:t>Impact al schimbărilor climatice</a:t>
            </a:r>
            <a:endParaRPr lang="en-US" sz="2050" dirty="0"/>
          </a:p>
        </p:txBody>
      </p:sp>
      <p:sp>
        <p:nvSpPr>
          <p:cNvPr id="15" name="Text 9"/>
          <p:cNvSpPr/>
          <p:nvPr/>
        </p:nvSpPr>
        <p:spPr>
          <a:xfrm>
            <a:off x="6824782" y="5935504"/>
            <a:ext cx="7111603" cy="1269206"/>
          </a:xfrm>
          <a:prstGeom prst="rect">
            <a:avLst/>
          </a:prstGeom>
          <a:noFill/>
          <a:ln/>
        </p:spPr>
        <p:txBody>
          <a:bodyPr wrap="square" lIns="0" tIns="0" rIns="0" bIns="0" rtlCol="0" anchor="t"/>
          <a:lstStyle/>
          <a:p>
            <a:pPr algn="l" indent="0" marL="0">
              <a:lnSpc>
                <a:spcPts val="2450"/>
              </a:lnSpc>
              <a:buNone/>
            </a:pPr>
            <a:r>
              <a:rPr lang="en-US" sz="1550" dirty="0">
                <a:solidFill>
                  <a:srgbClr val="EEEFF5"/>
                </a:solidFill>
                <a:latin typeface="Montserrat" pitchFamily="34" charset="0"/>
                <a:ea typeface="Montserrat" pitchFamily="34" charset="-122"/>
                <a:cs typeface="Montserrat" pitchFamily="34" charset="-120"/>
              </a:rPr>
              <a:t>Schimbările climatice intensifică frecvența și severitatea precipitațiilor extreme. În 2023, numeroase orașe importante din Orientul Mijlociu au fost afectate de inundații severe, provocând pierderi de vieți omenești și pagube materiale semnificative.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95418"/>
          </a:xfrm>
          <a:prstGeom prst="rect">
            <a:avLst/>
          </a:prstGeom>
        </p:spPr>
      </p:pic>
      <p:sp>
        <p:nvSpPr>
          <p:cNvPr id="3" name="Text 0"/>
          <p:cNvSpPr/>
          <p:nvPr/>
        </p:nvSpPr>
        <p:spPr>
          <a:xfrm>
            <a:off x="670679" y="3073956"/>
            <a:ext cx="7482840" cy="630436"/>
          </a:xfrm>
          <a:prstGeom prst="rect">
            <a:avLst/>
          </a:prstGeom>
          <a:noFill/>
          <a:ln/>
        </p:spPr>
        <p:txBody>
          <a:bodyPr wrap="none" lIns="0" tIns="0" rIns="0" bIns="0" rtlCol="0" anchor="t"/>
          <a:lstStyle/>
          <a:p>
            <a:pPr algn="l" indent="0" marL="0">
              <a:lnSpc>
                <a:spcPts val="4950"/>
              </a:lnSpc>
              <a:buNone/>
            </a:pPr>
            <a:r>
              <a:rPr lang="en-US" sz="3950" b="1" dirty="0">
                <a:solidFill>
                  <a:srgbClr val="9998FF"/>
                </a:solidFill>
                <a:latin typeface="Barlow Bold" pitchFamily="34" charset="0"/>
                <a:ea typeface="Barlow Bold" pitchFamily="34" charset="-122"/>
                <a:cs typeface="Barlow Bold" pitchFamily="34" charset="-120"/>
              </a:rPr>
              <a:t>Cutremurele și Riscurile Seismice</a:t>
            </a:r>
            <a:endParaRPr lang="en-US" sz="3950" dirty="0"/>
          </a:p>
        </p:txBody>
      </p:sp>
      <p:sp>
        <p:nvSpPr>
          <p:cNvPr id="4" name="Shape 1"/>
          <p:cNvSpPr/>
          <p:nvPr/>
        </p:nvSpPr>
        <p:spPr>
          <a:xfrm>
            <a:off x="670679" y="4207312"/>
            <a:ext cx="13289042" cy="22860"/>
          </a:xfrm>
          <a:prstGeom prst="roundRect">
            <a:avLst>
              <a:gd name="adj" fmla="val 754496"/>
            </a:avLst>
          </a:prstGeom>
          <a:solidFill>
            <a:srgbClr val="60646A"/>
          </a:solidFill>
          <a:ln/>
        </p:spPr>
      </p:sp>
      <p:sp>
        <p:nvSpPr>
          <p:cNvPr id="5" name="Shape 2"/>
          <p:cNvSpPr/>
          <p:nvPr/>
        </p:nvSpPr>
        <p:spPr>
          <a:xfrm>
            <a:off x="2794159" y="4207252"/>
            <a:ext cx="22860" cy="574834"/>
          </a:xfrm>
          <a:prstGeom prst="roundRect">
            <a:avLst>
              <a:gd name="adj" fmla="val 754496"/>
            </a:avLst>
          </a:prstGeom>
          <a:solidFill>
            <a:srgbClr val="60646A"/>
          </a:solidFill>
          <a:ln/>
        </p:spPr>
      </p:sp>
      <p:sp>
        <p:nvSpPr>
          <p:cNvPr id="6" name="Shape 3"/>
          <p:cNvSpPr/>
          <p:nvPr/>
        </p:nvSpPr>
        <p:spPr>
          <a:xfrm>
            <a:off x="2590086" y="3991749"/>
            <a:ext cx="431125" cy="431125"/>
          </a:xfrm>
          <a:prstGeom prst="roundRect">
            <a:avLst>
              <a:gd name="adj" fmla="val 40006"/>
            </a:avLst>
          </a:prstGeom>
          <a:solidFill>
            <a:srgbClr val="282C32"/>
          </a:solidFill>
          <a:ln/>
          <a:effectLst>
            <a:outerShdw sx="100000" sy="100000" kx="0" ky="0" algn="bl" rotWithShape="0" blurRad="46990" dist="22860" dir="13500000">
              <a:srgbClr val="ffffff">
                <a:alpha val="10000"/>
              </a:srgbClr>
            </a:outerShdw>
          </a:effectLst>
        </p:spPr>
      </p:sp>
      <p:sp>
        <p:nvSpPr>
          <p:cNvPr id="7" name="Text 4"/>
          <p:cNvSpPr/>
          <p:nvPr/>
        </p:nvSpPr>
        <p:spPr>
          <a:xfrm>
            <a:off x="2654320" y="4018181"/>
            <a:ext cx="302538" cy="378143"/>
          </a:xfrm>
          <a:prstGeom prst="rect">
            <a:avLst/>
          </a:prstGeom>
          <a:noFill/>
          <a:ln/>
        </p:spPr>
        <p:txBody>
          <a:bodyPr wrap="none" lIns="0" tIns="0" rIns="0" bIns="0" rtlCol="0" anchor="t"/>
          <a:lstStyle/>
          <a:p>
            <a:pPr algn="ctr" indent="0" marL="0">
              <a:lnSpc>
                <a:spcPts val="2350"/>
              </a:lnSpc>
              <a:buNone/>
            </a:pPr>
            <a:r>
              <a:rPr lang="en-US" sz="2350" b="1" dirty="0">
                <a:solidFill>
                  <a:srgbClr val="EEEFF5"/>
                </a:solidFill>
                <a:latin typeface="Barlow Bold" pitchFamily="34" charset="0"/>
                <a:ea typeface="Barlow Bold" pitchFamily="34" charset="-122"/>
                <a:cs typeface="Barlow Bold" pitchFamily="34" charset="-120"/>
              </a:rPr>
              <a:t>1</a:t>
            </a:r>
            <a:endParaRPr lang="en-US" sz="2350" dirty="0"/>
          </a:p>
        </p:txBody>
      </p:sp>
      <p:sp>
        <p:nvSpPr>
          <p:cNvPr id="8" name="Text 5"/>
          <p:cNvSpPr/>
          <p:nvPr/>
        </p:nvSpPr>
        <p:spPr>
          <a:xfrm>
            <a:off x="1544955" y="4973955"/>
            <a:ext cx="2521506" cy="315158"/>
          </a:xfrm>
          <a:prstGeom prst="rect">
            <a:avLst/>
          </a:prstGeom>
          <a:noFill/>
          <a:ln/>
        </p:spPr>
        <p:txBody>
          <a:bodyPr wrap="none" lIns="0" tIns="0" rIns="0" bIns="0" rtlCol="0" anchor="t"/>
          <a:lstStyle/>
          <a:p>
            <a:pPr algn="ctr" indent="0" marL="0">
              <a:lnSpc>
                <a:spcPts val="2450"/>
              </a:lnSpc>
              <a:buNone/>
            </a:pPr>
            <a:r>
              <a:rPr lang="en-US" sz="1950" b="1" dirty="0">
                <a:solidFill>
                  <a:srgbClr val="EEEFF5"/>
                </a:solidFill>
                <a:latin typeface="Barlow Bold" pitchFamily="34" charset="0"/>
                <a:ea typeface="Barlow Bold" pitchFamily="34" charset="-122"/>
                <a:cs typeface="Barlow Bold" pitchFamily="34" charset="-120"/>
              </a:rPr>
              <a:t>Zone seismice active</a:t>
            </a:r>
            <a:endParaRPr lang="en-US" sz="1950" dirty="0"/>
          </a:p>
        </p:txBody>
      </p:sp>
      <p:sp>
        <p:nvSpPr>
          <p:cNvPr id="9" name="Text 6"/>
          <p:cNvSpPr/>
          <p:nvPr/>
        </p:nvSpPr>
        <p:spPr>
          <a:xfrm>
            <a:off x="862251" y="5404009"/>
            <a:ext cx="3886914" cy="2146935"/>
          </a:xfrm>
          <a:prstGeom prst="rect">
            <a:avLst/>
          </a:prstGeom>
          <a:noFill/>
          <a:ln/>
        </p:spPr>
        <p:txBody>
          <a:bodyPr wrap="square" lIns="0" tIns="0" rIns="0" bIns="0" rtlCol="0" anchor="t"/>
          <a:lstStyle/>
          <a:p>
            <a:pPr algn="ctr" indent="0" marL="0">
              <a:lnSpc>
                <a:spcPts val="2400"/>
              </a:lnSpc>
              <a:buNone/>
            </a:pPr>
            <a:r>
              <a:rPr lang="en-US" sz="1500" dirty="0">
                <a:solidFill>
                  <a:srgbClr val="EEEFF5"/>
                </a:solidFill>
                <a:latin typeface="Montserrat" pitchFamily="34" charset="0"/>
                <a:ea typeface="Montserrat" pitchFamily="34" charset="-122"/>
                <a:cs typeface="Montserrat" pitchFamily="34" charset="-120"/>
              </a:rPr>
              <a:t>Regiunile din Iran, Turcia și zonele înconjurătoare sunt situate pe linii de falie active, generând o activitate seismică intensă și recurentă. Aceste zone reprezintă unele dintre cele mai vulnerabile regiuni la cutremure din întreaga lume.</a:t>
            </a:r>
            <a:endParaRPr lang="en-US" sz="1500" dirty="0"/>
          </a:p>
        </p:txBody>
      </p:sp>
      <p:sp>
        <p:nvSpPr>
          <p:cNvPr id="10" name="Shape 7"/>
          <p:cNvSpPr/>
          <p:nvPr/>
        </p:nvSpPr>
        <p:spPr>
          <a:xfrm>
            <a:off x="7303651" y="4207252"/>
            <a:ext cx="22860" cy="574834"/>
          </a:xfrm>
          <a:prstGeom prst="roundRect">
            <a:avLst>
              <a:gd name="adj" fmla="val 754496"/>
            </a:avLst>
          </a:prstGeom>
          <a:solidFill>
            <a:srgbClr val="60646A"/>
          </a:solidFill>
          <a:ln/>
        </p:spPr>
      </p:sp>
      <p:sp>
        <p:nvSpPr>
          <p:cNvPr id="11" name="Shape 8"/>
          <p:cNvSpPr/>
          <p:nvPr/>
        </p:nvSpPr>
        <p:spPr>
          <a:xfrm>
            <a:off x="7099578" y="3991749"/>
            <a:ext cx="431125" cy="431125"/>
          </a:xfrm>
          <a:prstGeom prst="roundRect">
            <a:avLst>
              <a:gd name="adj" fmla="val 40006"/>
            </a:avLst>
          </a:prstGeom>
          <a:solidFill>
            <a:srgbClr val="282C32"/>
          </a:solidFill>
          <a:ln/>
          <a:effectLst>
            <a:outerShdw sx="100000" sy="100000" kx="0" ky="0" algn="bl" rotWithShape="0" blurRad="46990" dist="22860" dir="13500000">
              <a:srgbClr val="ffffff">
                <a:alpha val="10000"/>
              </a:srgbClr>
            </a:outerShdw>
          </a:effectLst>
        </p:spPr>
      </p:sp>
      <p:sp>
        <p:nvSpPr>
          <p:cNvPr id="12" name="Text 9"/>
          <p:cNvSpPr/>
          <p:nvPr/>
        </p:nvSpPr>
        <p:spPr>
          <a:xfrm>
            <a:off x="7163812" y="4018181"/>
            <a:ext cx="302538" cy="378143"/>
          </a:xfrm>
          <a:prstGeom prst="rect">
            <a:avLst/>
          </a:prstGeom>
          <a:noFill/>
          <a:ln/>
        </p:spPr>
        <p:txBody>
          <a:bodyPr wrap="none" lIns="0" tIns="0" rIns="0" bIns="0" rtlCol="0" anchor="t"/>
          <a:lstStyle/>
          <a:p>
            <a:pPr algn="ctr" indent="0" marL="0">
              <a:lnSpc>
                <a:spcPts val="2350"/>
              </a:lnSpc>
              <a:buNone/>
            </a:pPr>
            <a:r>
              <a:rPr lang="en-US" sz="2350" b="1" dirty="0">
                <a:solidFill>
                  <a:srgbClr val="EEEFF5"/>
                </a:solidFill>
                <a:latin typeface="Barlow Bold" pitchFamily="34" charset="0"/>
                <a:ea typeface="Barlow Bold" pitchFamily="34" charset="-122"/>
                <a:cs typeface="Barlow Bold" pitchFamily="34" charset="-120"/>
              </a:rPr>
              <a:t>2</a:t>
            </a:r>
            <a:endParaRPr lang="en-US" sz="2350" dirty="0"/>
          </a:p>
        </p:txBody>
      </p:sp>
      <p:sp>
        <p:nvSpPr>
          <p:cNvPr id="13" name="Text 10"/>
          <p:cNvSpPr/>
          <p:nvPr/>
        </p:nvSpPr>
        <p:spPr>
          <a:xfrm>
            <a:off x="5817513" y="4973955"/>
            <a:ext cx="2995255" cy="315158"/>
          </a:xfrm>
          <a:prstGeom prst="rect">
            <a:avLst/>
          </a:prstGeom>
          <a:noFill/>
          <a:ln/>
        </p:spPr>
        <p:txBody>
          <a:bodyPr wrap="none" lIns="0" tIns="0" rIns="0" bIns="0" rtlCol="0" anchor="t"/>
          <a:lstStyle/>
          <a:p>
            <a:pPr algn="ctr" indent="0" marL="0">
              <a:lnSpc>
                <a:spcPts val="2450"/>
              </a:lnSpc>
              <a:buNone/>
            </a:pPr>
            <a:r>
              <a:rPr lang="en-US" sz="1950" b="1" dirty="0">
                <a:solidFill>
                  <a:srgbClr val="EEEFF5"/>
                </a:solidFill>
                <a:latin typeface="Barlow Bold" pitchFamily="34" charset="0"/>
                <a:ea typeface="Barlow Bold" pitchFamily="34" charset="-122"/>
                <a:cs typeface="Barlow Bold" pitchFamily="34" charset="-120"/>
              </a:rPr>
              <a:t>Cutremurul din Bam (2003)</a:t>
            </a:r>
            <a:endParaRPr lang="en-US" sz="1950" dirty="0"/>
          </a:p>
        </p:txBody>
      </p:sp>
      <p:sp>
        <p:nvSpPr>
          <p:cNvPr id="14" name="Text 11"/>
          <p:cNvSpPr/>
          <p:nvPr/>
        </p:nvSpPr>
        <p:spPr>
          <a:xfrm>
            <a:off x="5371743" y="5404009"/>
            <a:ext cx="3886914" cy="2146935"/>
          </a:xfrm>
          <a:prstGeom prst="rect">
            <a:avLst/>
          </a:prstGeom>
          <a:noFill/>
          <a:ln/>
        </p:spPr>
        <p:txBody>
          <a:bodyPr wrap="square" lIns="0" tIns="0" rIns="0" bIns="0" rtlCol="0" anchor="t"/>
          <a:lstStyle/>
          <a:p>
            <a:pPr algn="ctr" indent="0" marL="0">
              <a:lnSpc>
                <a:spcPts val="2400"/>
              </a:lnSpc>
              <a:buNone/>
            </a:pPr>
            <a:r>
              <a:rPr lang="en-US" sz="1500" dirty="0">
                <a:solidFill>
                  <a:srgbClr val="EEEFF5"/>
                </a:solidFill>
                <a:latin typeface="Montserrat" pitchFamily="34" charset="0"/>
                <a:ea typeface="Montserrat" pitchFamily="34" charset="-122"/>
                <a:cs typeface="Montserrat" pitchFamily="34" charset="-120"/>
              </a:rPr>
              <a:t>Un exemplu tragic al impactului seismic este cutremurul din orașul Bam, Iran, din 2003, care a cauzat peste 26.000 de victime. Magnitudinea de 6,6 a fost suficientă pentru a distruge clădirile tradiționale din chirpici, nerezistente la forțele seismice.</a:t>
            </a:r>
            <a:endParaRPr lang="en-US" sz="1500" dirty="0"/>
          </a:p>
        </p:txBody>
      </p:sp>
      <p:sp>
        <p:nvSpPr>
          <p:cNvPr id="15" name="Shape 12"/>
          <p:cNvSpPr/>
          <p:nvPr/>
        </p:nvSpPr>
        <p:spPr>
          <a:xfrm>
            <a:off x="11813143" y="4207252"/>
            <a:ext cx="22860" cy="574834"/>
          </a:xfrm>
          <a:prstGeom prst="roundRect">
            <a:avLst>
              <a:gd name="adj" fmla="val 754496"/>
            </a:avLst>
          </a:prstGeom>
          <a:solidFill>
            <a:srgbClr val="60646A"/>
          </a:solidFill>
          <a:ln/>
        </p:spPr>
      </p:sp>
      <p:sp>
        <p:nvSpPr>
          <p:cNvPr id="16" name="Shape 13"/>
          <p:cNvSpPr/>
          <p:nvPr/>
        </p:nvSpPr>
        <p:spPr>
          <a:xfrm>
            <a:off x="11609070" y="3991749"/>
            <a:ext cx="431125" cy="431125"/>
          </a:xfrm>
          <a:prstGeom prst="roundRect">
            <a:avLst>
              <a:gd name="adj" fmla="val 40006"/>
            </a:avLst>
          </a:prstGeom>
          <a:solidFill>
            <a:srgbClr val="282C32"/>
          </a:solidFill>
          <a:ln/>
          <a:effectLst>
            <a:outerShdw sx="100000" sy="100000" kx="0" ky="0" algn="bl" rotWithShape="0" blurRad="46990" dist="22860" dir="13500000">
              <a:srgbClr val="ffffff">
                <a:alpha val="10000"/>
              </a:srgbClr>
            </a:outerShdw>
          </a:effectLst>
        </p:spPr>
      </p:sp>
      <p:sp>
        <p:nvSpPr>
          <p:cNvPr id="17" name="Text 14"/>
          <p:cNvSpPr/>
          <p:nvPr/>
        </p:nvSpPr>
        <p:spPr>
          <a:xfrm>
            <a:off x="11673304" y="4018181"/>
            <a:ext cx="302538" cy="378143"/>
          </a:xfrm>
          <a:prstGeom prst="rect">
            <a:avLst/>
          </a:prstGeom>
          <a:noFill/>
          <a:ln/>
        </p:spPr>
        <p:txBody>
          <a:bodyPr wrap="none" lIns="0" tIns="0" rIns="0" bIns="0" rtlCol="0" anchor="t"/>
          <a:lstStyle/>
          <a:p>
            <a:pPr algn="ctr" indent="0" marL="0">
              <a:lnSpc>
                <a:spcPts val="2350"/>
              </a:lnSpc>
              <a:buNone/>
            </a:pPr>
            <a:r>
              <a:rPr lang="en-US" sz="2350" b="1" dirty="0">
                <a:solidFill>
                  <a:srgbClr val="EEEFF5"/>
                </a:solidFill>
                <a:latin typeface="Barlow Bold" pitchFamily="34" charset="0"/>
                <a:ea typeface="Barlow Bold" pitchFamily="34" charset="-122"/>
                <a:cs typeface="Barlow Bold" pitchFamily="34" charset="-120"/>
              </a:rPr>
              <a:t>3</a:t>
            </a:r>
            <a:endParaRPr lang="en-US" sz="2350" dirty="0"/>
          </a:p>
        </p:txBody>
      </p:sp>
      <p:sp>
        <p:nvSpPr>
          <p:cNvPr id="18" name="Text 15"/>
          <p:cNvSpPr/>
          <p:nvPr/>
        </p:nvSpPr>
        <p:spPr>
          <a:xfrm>
            <a:off x="10563939" y="4973955"/>
            <a:ext cx="2521506" cy="315158"/>
          </a:xfrm>
          <a:prstGeom prst="rect">
            <a:avLst/>
          </a:prstGeom>
          <a:noFill/>
          <a:ln/>
        </p:spPr>
        <p:txBody>
          <a:bodyPr wrap="none" lIns="0" tIns="0" rIns="0" bIns="0" rtlCol="0" anchor="t"/>
          <a:lstStyle/>
          <a:p>
            <a:pPr algn="ctr" indent="0" marL="0">
              <a:lnSpc>
                <a:spcPts val="2450"/>
              </a:lnSpc>
              <a:buNone/>
            </a:pPr>
            <a:r>
              <a:rPr lang="en-US" sz="1950" b="1" dirty="0">
                <a:solidFill>
                  <a:srgbClr val="EEEFF5"/>
                </a:solidFill>
                <a:latin typeface="Barlow Bold" pitchFamily="34" charset="0"/>
                <a:ea typeface="Barlow Bold" pitchFamily="34" charset="-122"/>
                <a:cs typeface="Barlow Bold" pitchFamily="34" charset="-120"/>
              </a:rPr>
              <a:t>Risc persistent</a:t>
            </a:r>
            <a:endParaRPr lang="en-US" sz="1950" dirty="0"/>
          </a:p>
        </p:txBody>
      </p:sp>
      <p:sp>
        <p:nvSpPr>
          <p:cNvPr id="19" name="Text 16"/>
          <p:cNvSpPr/>
          <p:nvPr/>
        </p:nvSpPr>
        <p:spPr>
          <a:xfrm>
            <a:off x="9881235" y="5404009"/>
            <a:ext cx="3886914" cy="2146935"/>
          </a:xfrm>
          <a:prstGeom prst="rect">
            <a:avLst/>
          </a:prstGeom>
          <a:noFill/>
          <a:ln/>
        </p:spPr>
        <p:txBody>
          <a:bodyPr wrap="square" lIns="0" tIns="0" rIns="0" bIns="0" rtlCol="0" anchor="t"/>
          <a:lstStyle/>
          <a:p>
            <a:pPr algn="ctr" indent="0" marL="0">
              <a:lnSpc>
                <a:spcPts val="2400"/>
              </a:lnSpc>
              <a:buNone/>
            </a:pPr>
            <a:r>
              <a:rPr lang="en-US" sz="1500" dirty="0">
                <a:solidFill>
                  <a:srgbClr val="EEEFF5"/>
                </a:solidFill>
                <a:latin typeface="Montserrat" pitchFamily="34" charset="0"/>
                <a:ea typeface="Montserrat" pitchFamily="34" charset="-122"/>
                <a:cs typeface="Montserrat" pitchFamily="34" charset="-120"/>
              </a:rPr>
              <a:t>Activitatea tectonică continuă reprezintă un risc permanent pentru comunitățile din regiune. Multe clădiri nu respectă standardele de construcție antiseismică, amplificând vulnerabilitatea populației în fața acestor evenimente.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39460" y="345281"/>
            <a:ext cx="6602730" cy="413147"/>
          </a:xfrm>
          <a:prstGeom prst="rect">
            <a:avLst/>
          </a:prstGeom>
          <a:noFill/>
          <a:ln/>
        </p:spPr>
        <p:txBody>
          <a:bodyPr wrap="none" lIns="0" tIns="0" rIns="0" bIns="0" rtlCol="0" anchor="t"/>
          <a:lstStyle/>
          <a:p>
            <a:pPr algn="l" indent="0" marL="0">
              <a:lnSpc>
                <a:spcPts val="3250"/>
              </a:lnSpc>
              <a:buNone/>
            </a:pPr>
            <a:r>
              <a:rPr lang="en-US" sz="2600" b="1" dirty="0">
                <a:solidFill>
                  <a:srgbClr val="9998FF"/>
                </a:solidFill>
                <a:latin typeface="Barlow Bold" pitchFamily="34" charset="0"/>
                <a:ea typeface="Barlow Bold" pitchFamily="34" charset="-122"/>
                <a:cs typeface="Barlow Bold" pitchFamily="34" charset="-120"/>
              </a:rPr>
              <a:t>Seceta, Deficitul de Apă și Valurile de Căldură</a:t>
            </a:r>
            <a:endParaRPr lang="en-US" sz="2600" dirty="0"/>
          </a:p>
        </p:txBody>
      </p:sp>
      <p:pic>
        <p:nvPicPr>
          <p:cNvPr id="3" name="Image 0" descr="preencoded.png">    </p:cNvPr>
          <p:cNvPicPr>
            <a:picLocks noChangeAspect="1"/>
          </p:cNvPicPr>
          <p:nvPr/>
        </p:nvPicPr>
        <p:blipFill>
          <a:blip r:embed="rId1"/>
          <a:stretch>
            <a:fillRect/>
          </a:stretch>
        </p:blipFill>
        <p:spPr>
          <a:xfrm>
            <a:off x="439460" y="1009531"/>
            <a:ext cx="13751481" cy="7700724"/>
          </a:xfrm>
          <a:prstGeom prst="rect">
            <a:avLst/>
          </a:prstGeom>
        </p:spPr>
      </p:pic>
      <p:sp>
        <p:nvSpPr>
          <p:cNvPr id="4" name="Text 1"/>
          <p:cNvSpPr/>
          <p:nvPr/>
        </p:nvSpPr>
        <p:spPr>
          <a:xfrm>
            <a:off x="439460" y="8851463"/>
            <a:ext cx="13751481" cy="401955"/>
          </a:xfrm>
          <a:prstGeom prst="rect">
            <a:avLst/>
          </a:prstGeom>
          <a:noFill/>
          <a:ln/>
        </p:spPr>
        <p:txBody>
          <a:bodyPr wrap="square" lIns="0" tIns="0" rIns="0" bIns="0" rtlCol="0" anchor="t"/>
          <a:lstStyle/>
          <a:p>
            <a:pPr algn="l" indent="0" marL="0">
              <a:lnSpc>
                <a:spcPts val="1550"/>
              </a:lnSpc>
              <a:buNone/>
            </a:pPr>
            <a:r>
              <a:rPr lang="en-US" sz="950" dirty="0">
                <a:solidFill>
                  <a:srgbClr val="EEEFF5"/>
                </a:solidFill>
                <a:latin typeface="Montserrat" pitchFamily="34" charset="0"/>
                <a:ea typeface="Montserrat" pitchFamily="34" charset="-122"/>
                <a:cs typeface="Montserrat" pitchFamily="34" charset="-120"/>
              </a:rPr>
              <a:t>Seceta persistentă reprezintă o amenințare majoră pentru agricultura și aprovizionarea cu apă din Orientul Mijlociu. Regiunea se confruntă cu un deficit cronic de apă, agravat de schimbările climatice și gestionarea ineficientă a resurselor. Aceste probleme sunt exacerbate de creșterea demografică și urbanizarea rapidă.</a:t>
            </a:r>
            <a:endParaRPr lang="en-US" sz="950" dirty="0"/>
          </a:p>
        </p:txBody>
      </p:sp>
      <p:sp>
        <p:nvSpPr>
          <p:cNvPr id="5" name="Text 2"/>
          <p:cNvSpPr/>
          <p:nvPr/>
        </p:nvSpPr>
        <p:spPr>
          <a:xfrm>
            <a:off x="439460" y="9394627"/>
            <a:ext cx="13751481" cy="401955"/>
          </a:xfrm>
          <a:prstGeom prst="rect">
            <a:avLst/>
          </a:prstGeom>
          <a:noFill/>
          <a:ln/>
        </p:spPr>
        <p:txBody>
          <a:bodyPr wrap="square" lIns="0" tIns="0" rIns="0" bIns="0" rtlCol="0" anchor="t"/>
          <a:lstStyle/>
          <a:p>
            <a:pPr algn="l" indent="0" marL="0">
              <a:lnSpc>
                <a:spcPts val="1550"/>
              </a:lnSpc>
              <a:buNone/>
            </a:pPr>
            <a:r>
              <a:rPr lang="en-US" sz="950" dirty="0">
                <a:solidFill>
                  <a:srgbClr val="EEEFF5"/>
                </a:solidFill>
                <a:latin typeface="Montserrat" pitchFamily="34" charset="0"/>
                <a:ea typeface="Montserrat" pitchFamily="34" charset="-122"/>
                <a:cs typeface="Montserrat" pitchFamily="34" charset="-120"/>
              </a:rPr>
              <a:t>Valurile de căldură extremă au devenit din ce în ce mai frecvente și severe, cu temperaturi record înregistrate în 2024. Aceste fenomene au un impact direct asupra sănătății publice, productivității agricole și consumului de energie, creând presiuni suplimentare asupra infrastructurii și resurselor naturale limitate.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7105" y="508516"/>
            <a:ext cx="7608689" cy="608171"/>
          </a:xfrm>
          <a:prstGeom prst="rect">
            <a:avLst/>
          </a:prstGeom>
          <a:noFill/>
          <a:ln/>
        </p:spPr>
        <p:txBody>
          <a:bodyPr wrap="none" lIns="0" tIns="0" rIns="0" bIns="0" rtlCol="0" anchor="t"/>
          <a:lstStyle/>
          <a:p>
            <a:pPr algn="l" indent="0" marL="0">
              <a:lnSpc>
                <a:spcPts val="4750"/>
              </a:lnSpc>
              <a:buNone/>
            </a:pPr>
            <a:r>
              <a:rPr lang="en-US" sz="3800" b="1" dirty="0">
                <a:solidFill>
                  <a:srgbClr val="9998FF"/>
                </a:solidFill>
                <a:latin typeface="Barlow Bold" pitchFamily="34" charset="0"/>
                <a:ea typeface="Barlow Bold" pitchFamily="34" charset="-122"/>
                <a:cs typeface="Barlow Bold" pitchFamily="34" charset="-120"/>
              </a:rPr>
              <a:t>Impactul Social, Economic și Politic</a:t>
            </a:r>
            <a:endParaRPr lang="en-US" sz="3800" dirty="0"/>
          </a:p>
        </p:txBody>
      </p:sp>
      <p:sp>
        <p:nvSpPr>
          <p:cNvPr id="3" name="Text 1"/>
          <p:cNvSpPr/>
          <p:nvPr/>
        </p:nvSpPr>
        <p:spPr>
          <a:xfrm>
            <a:off x="2159198" y="1932861"/>
            <a:ext cx="2544842" cy="304205"/>
          </a:xfrm>
          <a:prstGeom prst="rect">
            <a:avLst/>
          </a:prstGeom>
          <a:noFill/>
          <a:ln/>
        </p:spPr>
        <p:txBody>
          <a:bodyPr wrap="none" lIns="0" tIns="0" rIns="0" bIns="0" rtlCol="0" anchor="t"/>
          <a:lstStyle/>
          <a:p>
            <a:pPr algn="r" indent="0" marL="0">
              <a:lnSpc>
                <a:spcPts val="2350"/>
              </a:lnSpc>
              <a:buNone/>
            </a:pPr>
            <a:r>
              <a:rPr lang="en-US" sz="1900" b="1" dirty="0">
                <a:solidFill>
                  <a:srgbClr val="EEEFF5"/>
                </a:solidFill>
                <a:latin typeface="Barlow Bold" pitchFamily="34" charset="0"/>
                <a:ea typeface="Barlow Bold" pitchFamily="34" charset="-122"/>
                <a:cs typeface="Barlow Bold" pitchFamily="34" charset="-120"/>
              </a:rPr>
              <a:t>Impact asupra sănătății</a:t>
            </a:r>
            <a:endParaRPr lang="en-US" sz="1900" dirty="0"/>
          </a:p>
        </p:txBody>
      </p:sp>
      <p:sp>
        <p:nvSpPr>
          <p:cNvPr id="4" name="Text 2"/>
          <p:cNvSpPr/>
          <p:nvPr/>
        </p:nvSpPr>
        <p:spPr>
          <a:xfrm>
            <a:off x="647105" y="2347913"/>
            <a:ext cx="4056936" cy="887254"/>
          </a:xfrm>
          <a:prstGeom prst="rect">
            <a:avLst/>
          </a:prstGeom>
          <a:noFill/>
          <a:ln/>
        </p:spPr>
        <p:txBody>
          <a:bodyPr wrap="square" lIns="0" tIns="0" rIns="0" bIns="0" rtlCol="0" anchor="t"/>
          <a:lstStyle/>
          <a:p>
            <a:pPr algn="r" indent="0" marL="0">
              <a:lnSpc>
                <a:spcPts val="2300"/>
              </a:lnSpc>
              <a:buNone/>
            </a:pPr>
            <a:r>
              <a:rPr lang="en-US" sz="1450" dirty="0">
                <a:solidFill>
                  <a:srgbClr val="EEEFF5"/>
                </a:solidFill>
                <a:latin typeface="Montserrat" pitchFamily="34" charset="0"/>
                <a:ea typeface="Montserrat" pitchFamily="34" charset="-122"/>
                <a:cs typeface="Montserrat" pitchFamily="34" charset="-120"/>
              </a:rPr>
              <a:t>Hazardurile naturale afectează direct starea de sănătate a populațiilor, prin traumatisme, boli infecțioase și subnutriție</a:t>
            </a:r>
            <a:endParaRPr lang="en-US" sz="1450" dirty="0"/>
          </a:p>
        </p:txBody>
      </p:sp>
      <p:pic>
        <p:nvPicPr>
          <p:cNvPr id="5" name="Image 0" descr="preencoded.png">    </p:cNvPr>
          <p:cNvPicPr>
            <a:picLocks noChangeAspect="1"/>
          </p:cNvPicPr>
          <p:nvPr/>
        </p:nvPicPr>
        <p:blipFill>
          <a:blip r:embed="rId1"/>
          <a:stretch>
            <a:fillRect/>
          </a:stretch>
        </p:blipFill>
        <p:spPr>
          <a:xfrm>
            <a:off x="4981337" y="1486495"/>
            <a:ext cx="4667607" cy="4667607"/>
          </a:xfrm>
          <a:prstGeom prst="rect">
            <a:avLst/>
          </a:prstGeom>
        </p:spPr>
      </p:pic>
      <p:pic>
        <p:nvPicPr>
          <p:cNvPr id="6" name="Image 1" descr="preencoded.png">    </p:cNvPr>
          <p:cNvPicPr>
            <a:picLocks noChangeAspect="1"/>
          </p:cNvPicPr>
          <p:nvPr/>
        </p:nvPicPr>
        <p:blipFill>
          <a:blip r:embed="rId2"/>
          <a:stretch>
            <a:fillRect/>
          </a:stretch>
        </p:blipFill>
        <p:spPr>
          <a:xfrm>
            <a:off x="6214110" y="2294096"/>
            <a:ext cx="276582" cy="345758"/>
          </a:xfrm>
          <a:prstGeom prst="rect">
            <a:avLst/>
          </a:prstGeom>
        </p:spPr>
      </p:pic>
      <p:sp>
        <p:nvSpPr>
          <p:cNvPr id="7" name="Text 3"/>
          <p:cNvSpPr/>
          <p:nvPr/>
        </p:nvSpPr>
        <p:spPr>
          <a:xfrm>
            <a:off x="9926241" y="1932861"/>
            <a:ext cx="2461498" cy="304205"/>
          </a:xfrm>
          <a:prstGeom prst="rect">
            <a:avLst/>
          </a:prstGeom>
          <a:noFill/>
          <a:ln/>
        </p:spPr>
        <p:txBody>
          <a:bodyPr wrap="none" lIns="0" tIns="0" rIns="0" bIns="0" rtlCol="0" anchor="t"/>
          <a:lstStyle/>
          <a:p>
            <a:pPr algn="l" indent="0" marL="0">
              <a:lnSpc>
                <a:spcPts val="2350"/>
              </a:lnSpc>
              <a:buNone/>
            </a:pPr>
            <a:r>
              <a:rPr lang="en-US" sz="1900" b="1" dirty="0">
                <a:solidFill>
                  <a:srgbClr val="EEEFF5"/>
                </a:solidFill>
                <a:latin typeface="Barlow Bold" pitchFamily="34" charset="0"/>
                <a:ea typeface="Barlow Bold" pitchFamily="34" charset="-122"/>
                <a:cs typeface="Barlow Bold" pitchFamily="34" charset="-120"/>
              </a:rPr>
              <a:t>Consecințe economice</a:t>
            </a:r>
            <a:endParaRPr lang="en-US" sz="1900" dirty="0"/>
          </a:p>
        </p:txBody>
      </p:sp>
      <p:sp>
        <p:nvSpPr>
          <p:cNvPr id="8" name="Text 4"/>
          <p:cNvSpPr/>
          <p:nvPr/>
        </p:nvSpPr>
        <p:spPr>
          <a:xfrm>
            <a:off x="9926241" y="2347913"/>
            <a:ext cx="4057055" cy="887254"/>
          </a:xfrm>
          <a:prstGeom prst="rect">
            <a:avLst/>
          </a:prstGeom>
          <a:noFill/>
          <a:ln/>
        </p:spPr>
        <p:txBody>
          <a:bodyPr wrap="square" lIns="0" tIns="0" rIns="0" bIns="0" rtlCol="0" anchor="t"/>
          <a:lstStyle/>
          <a:p>
            <a:pPr algn="l" indent="0" marL="0">
              <a:lnSpc>
                <a:spcPts val="2300"/>
              </a:lnSpc>
              <a:buNone/>
            </a:pPr>
            <a:r>
              <a:rPr lang="en-US" sz="1450" dirty="0">
                <a:solidFill>
                  <a:srgbClr val="EEEFF5"/>
                </a:solidFill>
                <a:latin typeface="Montserrat" pitchFamily="34" charset="0"/>
                <a:ea typeface="Montserrat" pitchFamily="34" charset="-122"/>
                <a:cs typeface="Montserrat" pitchFamily="34" charset="-120"/>
              </a:rPr>
              <a:t>Deteriorarea infrastructurii și întreruperea activităților economice afectează dezvoltarea pe termen lung</a:t>
            </a:r>
            <a:endParaRPr lang="en-US" sz="1450" dirty="0"/>
          </a:p>
        </p:txBody>
      </p:sp>
      <p:pic>
        <p:nvPicPr>
          <p:cNvPr id="9" name="Image 2" descr="preencoded.png">    </p:cNvPr>
          <p:cNvPicPr>
            <a:picLocks noChangeAspect="1"/>
          </p:cNvPicPr>
          <p:nvPr/>
        </p:nvPicPr>
        <p:blipFill>
          <a:blip r:embed="rId3"/>
          <a:stretch>
            <a:fillRect/>
          </a:stretch>
        </p:blipFill>
        <p:spPr>
          <a:xfrm>
            <a:off x="4981337" y="1486495"/>
            <a:ext cx="4667607" cy="4667607"/>
          </a:xfrm>
          <a:prstGeom prst="rect">
            <a:avLst/>
          </a:prstGeom>
        </p:spPr>
      </p:pic>
      <p:pic>
        <p:nvPicPr>
          <p:cNvPr id="10" name="Image 3" descr="preencoded.png">    </p:cNvPr>
          <p:cNvPicPr>
            <a:picLocks noChangeAspect="1"/>
          </p:cNvPicPr>
          <p:nvPr/>
        </p:nvPicPr>
        <p:blipFill>
          <a:blip r:embed="rId4"/>
          <a:stretch>
            <a:fillRect/>
          </a:stretch>
        </p:blipFill>
        <p:spPr>
          <a:xfrm>
            <a:off x="8452128" y="2684740"/>
            <a:ext cx="276582" cy="345758"/>
          </a:xfrm>
          <a:prstGeom prst="rect">
            <a:avLst/>
          </a:prstGeom>
        </p:spPr>
      </p:pic>
      <p:sp>
        <p:nvSpPr>
          <p:cNvPr id="11" name="Text 5"/>
          <p:cNvSpPr/>
          <p:nvPr/>
        </p:nvSpPr>
        <p:spPr>
          <a:xfrm>
            <a:off x="9926241" y="4405313"/>
            <a:ext cx="2726293" cy="304205"/>
          </a:xfrm>
          <a:prstGeom prst="rect">
            <a:avLst/>
          </a:prstGeom>
          <a:noFill/>
          <a:ln/>
        </p:spPr>
        <p:txBody>
          <a:bodyPr wrap="none" lIns="0" tIns="0" rIns="0" bIns="0" rtlCol="0" anchor="t"/>
          <a:lstStyle/>
          <a:p>
            <a:pPr algn="l" indent="0" marL="0">
              <a:lnSpc>
                <a:spcPts val="2350"/>
              </a:lnSpc>
              <a:buNone/>
            </a:pPr>
            <a:r>
              <a:rPr lang="en-US" sz="1900" b="1" dirty="0">
                <a:solidFill>
                  <a:srgbClr val="EEEFF5"/>
                </a:solidFill>
                <a:latin typeface="Barlow Bold" pitchFamily="34" charset="0"/>
                <a:ea typeface="Barlow Bold" pitchFamily="34" charset="-122"/>
                <a:cs typeface="Barlow Bold" pitchFamily="34" charset="-120"/>
              </a:rPr>
              <a:t>Exacerbare a conflictelor</a:t>
            </a:r>
            <a:endParaRPr lang="en-US" sz="1900" dirty="0"/>
          </a:p>
        </p:txBody>
      </p:sp>
      <p:sp>
        <p:nvSpPr>
          <p:cNvPr id="12" name="Text 6"/>
          <p:cNvSpPr/>
          <p:nvPr/>
        </p:nvSpPr>
        <p:spPr>
          <a:xfrm>
            <a:off x="9926241" y="4820364"/>
            <a:ext cx="4057055" cy="887254"/>
          </a:xfrm>
          <a:prstGeom prst="rect">
            <a:avLst/>
          </a:prstGeom>
          <a:noFill/>
          <a:ln/>
        </p:spPr>
        <p:txBody>
          <a:bodyPr wrap="square" lIns="0" tIns="0" rIns="0" bIns="0" rtlCol="0" anchor="t"/>
          <a:lstStyle/>
          <a:p>
            <a:pPr algn="l" indent="0" marL="0">
              <a:lnSpc>
                <a:spcPts val="2300"/>
              </a:lnSpc>
              <a:buNone/>
            </a:pPr>
            <a:r>
              <a:rPr lang="en-US" sz="1450" dirty="0">
                <a:solidFill>
                  <a:srgbClr val="EEEFF5"/>
                </a:solidFill>
                <a:latin typeface="Montserrat" pitchFamily="34" charset="0"/>
                <a:ea typeface="Montserrat" pitchFamily="34" charset="-122"/>
                <a:cs typeface="Montserrat" pitchFamily="34" charset="-120"/>
              </a:rPr>
              <a:t>Competiția pentru resurse limitate intensifică tensiunile sociale și politice existente</a:t>
            </a:r>
            <a:endParaRPr lang="en-US" sz="1450" dirty="0"/>
          </a:p>
        </p:txBody>
      </p:sp>
      <p:pic>
        <p:nvPicPr>
          <p:cNvPr id="13" name="Image 4" descr="preencoded.png">    </p:cNvPr>
          <p:cNvPicPr>
            <a:picLocks noChangeAspect="1"/>
          </p:cNvPicPr>
          <p:nvPr/>
        </p:nvPicPr>
        <p:blipFill>
          <a:blip r:embed="rId5"/>
          <a:stretch>
            <a:fillRect/>
          </a:stretch>
        </p:blipFill>
        <p:spPr>
          <a:xfrm>
            <a:off x="4981337" y="1486495"/>
            <a:ext cx="4667607" cy="4667607"/>
          </a:xfrm>
          <a:prstGeom prst="rect">
            <a:avLst/>
          </a:prstGeom>
        </p:spPr>
      </p:pic>
      <p:pic>
        <p:nvPicPr>
          <p:cNvPr id="14" name="Image 5" descr="preencoded.png">    </p:cNvPr>
          <p:cNvPicPr>
            <a:picLocks noChangeAspect="1"/>
          </p:cNvPicPr>
          <p:nvPr/>
        </p:nvPicPr>
        <p:blipFill>
          <a:blip r:embed="rId6"/>
          <a:stretch>
            <a:fillRect/>
          </a:stretch>
        </p:blipFill>
        <p:spPr>
          <a:xfrm>
            <a:off x="8061484" y="4922758"/>
            <a:ext cx="276582" cy="345758"/>
          </a:xfrm>
          <a:prstGeom prst="rect">
            <a:avLst/>
          </a:prstGeom>
        </p:spPr>
      </p:pic>
      <p:sp>
        <p:nvSpPr>
          <p:cNvPr id="15" name="Text 7"/>
          <p:cNvSpPr/>
          <p:nvPr/>
        </p:nvSpPr>
        <p:spPr>
          <a:xfrm>
            <a:off x="2270998" y="4405313"/>
            <a:ext cx="2433042" cy="304205"/>
          </a:xfrm>
          <a:prstGeom prst="rect">
            <a:avLst/>
          </a:prstGeom>
          <a:noFill/>
          <a:ln/>
        </p:spPr>
        <p:txBody>
          <a:bodyPr wrap="none" lIns="0" tIns="0" rIns="0" bIns="0" rtlCol="0" anchor="t"/>
          <a:lstStyle/>
          <a:p>
            <a:pPr algn="r" indent="0" marL="0">
              <a:lnSpc>
                <a:spcPts val="2350"/>
              </a:lnSpc>
              <a:buNone/>
            </a:pPr>
            <a:r>
              <a:rPr lang="en-US" sz="1900" b="1" dirty="0">
                <a:solidFill>
                  <a:srgbClr val="EEEFF5"/>
                </a:solidFill>
                <a:latin typeface="Barlow Bold" pitchFamily="34" charset="0"/>
                <a:ea typeface="Barlow Bold" pitchFamily="34" charset="-122"/>
                <a:cs typeface="Barlow Bold" pitchFamily="34" charset="-120"/>
              </a:rPr>
              <a:t>Impact global</a:t>
            </a:r>
            <a:endParaRPr lang="en-US" sz="1900" dirty="0"/>
          </a:p>
        </p:txBody>
      </p:sp>
      <p:sp>
        <p:nvSpPr>
          <p:cNvPr id="16" name="Text 8"/>
          <p:cNvSpPr/>
          <p:nvPr/>
        </p:nvSpPr>
        <p:spPr>
          <a:xfrm>
            <a:off x="647105" y="4820364"/>
            <a:ext cx="4056936" cy="887254"/>
          </a:xfrm>
          <a:prstGeom prst="rect">
            <a:avLst/>
          </a:prstGeom>
          <a:noFill/>
          <a:ln/>
        </p:spPr>
        <p:txBody>
          <a:bodyPr wrap="square" lIns="0" tIns="0" rIns="0" bIns="0" rtlCol="0" anchor="t"/>
          <a:lstStyle/>
          <a:p>
            <a:pPr algn="r" indent="0" marL="0">
              <a:lnSpc>
                <a:spcPts val="2300"/>
              </a:lnSpc>
              <a:buNone/>
            </a:pPr>
            <a:r>
              <a:rPr lang="en-US" sz="1450" dirty="0">
                <a:solidFill>
                  <a:srgbClr val="EEEFF5"/>
                </a:solidFill>
                <a:latin typeface="Montserrat" pitchFamily="34" charset="0"/>
                <a:ea typeface="Montserrat" pitchFamily="34" charset="-122"/>
                <a:cs typeface="Montserrat" pitchFamily="34" charset="-120"/>
              </a:rPr>
              <a:t>Afectarea producției de petrol (35% din producția mondială) influențează piețele globale</a:t>
            </a:r>
            <a:endParaRPr lang="en-US" sz="1450" dirty="0"/>
          </a:p>
        </p:txBody>
      </p:sp>
      <p:pic>
        <p:nvPicPr>
          <p:cNvPr id="17" name="Image 6" descr="preencoded.png">    </p:cNvPr>
          <p:cNvPicPr>
            <a:picLocks noChangeAspect="1"/>
          </p:cNvPicPr>
          <p:nvPr/>
        </p:nvPicPr>
        <p:blipFill>
          <a:blip r:embed="rId7"/>
          <a:stretch>
            <a:fillRect/>
          </a:stretch>
        </p:blipFill>
        <p:spPr>
          <a:xfrm>
            <a:off x="4981337" y="1486495"/>
            <a:ext cx="4667607" cy="4667607"/>
          </a:xfrm>
          <a:prstGeom prst="rect">
            <a:avLst/>
          </a:prstGeom>
        </p:spPr>
      </p:pic>
      <p:pic>
        <p:nvPicPr>
          <p:cNvPr id="18" name="Image 7" descr="preencoded.png">    </p:cNvPr>
          <p:cNvPicPr>
            <a:picLocks noChangeAspect="1"/>
          </p:cNvPicPr>
          <p:nvPr/>
        </p:nvPicPr>
        <p:blipFill>
          <a:blip r:embed="rId8"/>
          <a:stretch>
            <a:fillRect/>
          </a:stretch>
        </p:blipFill>
        <p:spPr>
          <a:xfrm>
            <a:off x="5823466" y="4532114"/>
            <a:ext cx="276582" cy="345758"/>
          </a:xfrm>
          <a:prstGeom prst="rect">
            <a:avLst/>
          </a:prstGeom>
        </p:spPr>
      </p:pic>
      <p:sp>
        <p:nvSpPr>
          <p:cNvPr id="19" name="Text 9"/>
          <p:cNvSpPr/>
          <p:nvPr/>
        </p:nvSpPr>
        <p:spPr>
          <a:xfrm>
            <a:off x="647105" y="6362105"/>
            <a:ext cx="13336191" cy="591503"/>
          </a:xfrm>
          <a:prstGeom prst="rect">
            <a:avLst/>
          </a:prstGeom>
          <a:noFill/>
          <a:ln/>
        </p:spPr>
        <p:txBody>
          <a:bodyPr wrap="square" lIns="0" tIns="0" rIns="0" bIns="0" rtlCol="0" anchor="t"/>
          <a:lstStyle/>
          <a:p>
            <a:pPr algn="l" indent="0" marL="0">
              <a:lnSpc>
                <a:spcPts val="2300"/>
              </a:lnSpc>
              <a:buNone/>
            </a:pPr>
            <a:r>
              <a:rPr lang="en-US" sz="1450" dirty="0">
                <a:solidFill>
                  <a:srgbClr val="EEEFF5"/>
                </a:solidFill>
                <a:latin typeface="Montserrat" pitchFamily="34" charset="0"/>
                <a:ea typeface="Montserrat" pitchFamily="34" charset="-122"/>
                <a:cs typeface="Montserrat" pitchFamily="34" charset="-120"/>
              </a:rPr>
              <a:t>Hazardurile naturale perturbă dezvoltarea socială și economică a regiunii, generând riscuri pentru sănătate, stabilitate și prosperitate. Conflictele politice amplifică vulnerabilitatea populațiilor afectate, provocând strămutări masive și deteriorarea infrastructurii esențiale.</a:t>
            </a:r>
            <a:endParaRPr lang="en-US" sz="1450" dirty="0"/>
          </a:p>
        </p:txBody>
      </p:sp>
      <p:sp>
        <p:nvSpPr>
          <p:cNvPr id="20" name="Text 10"/>
          <p:cNvSpPr/>
          <p:nvPr/>
        </p:nvSpPr>
        <p:spPr>
          <a:xfrm>
            <a:off x="647105" y="7161609"/>
            <a:ext cx="13336191" cy="887254"/>
          </a:xfrm>
          <a:prstGeom prst="rect">
            <a:avLst/>
          </a:prstGeom>
          <a:noFill/>
          <a:ln/>
        </p:spPr>
        <p:txBody>
          <a:bodyPr wrap="square" lIns="0" tIns="0" rIns="0" bIns="0" rtlCol="0" anchor="t"/>
          <a:lstStyle/>
          <a:p>
            <a:pPr algn="l" indent="0" marL="0">
              <a:lnSpc>
                <a:spcPts val="2300"/>
              </a:lnSpc>
              <a:buNone/>
            </a:pPr>
            <a:r>
              <a:rPr lang="en-US" sz="1450" dirty="0">
                <a:solidFill>
                  <a:srgbClr val="EEEFF5"/>
                </a:solidFill>
                <a:latin typeface="Montserrat" pitchFamily="34" charset="0"/>
                <a:ea typeface="Montserrat" pitchFamily="34" charset="-122"/>
                <a:cs typeface="Montserrat" pitchFamily="34" charset="-120"/>
              </a:rPr>
              <a:t>Amenințările la adresa producției și exportului de petrol și gaze naturale, care reprezintă 35% din piața mondială de petrol, au ramificații economice globale semnificative. Întreruperea acestor fluxuri energetice poate genera fluctuații ale prețurilor și instabilitate pe piețele internaționale.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0450" y="581739"/>
            <a:ext cx="7916227" cy="695920"/>
          </a:xfrm>
          <a:prstGeom prst="rect">
            <a:avLst/>
          </a:prstGeom>
          <a:noFill/>
          <a:ln/>
        </p:spPr>
        <p:txBody>
          <a:bodyPr wrap="none" lIns="0" tIns="0" rIns="0" bIns="0" rtlCol="0" anchor="t"/>
          <a:lstStyle/>
          <a:p>
            <a:pPr algn="l" indent="0" marL="0">
              <a:lnSpc>
                <a:spcPts val="5450"/>
              </a:lnSpc>
              <a:buNone/>
            </a:pPr>
            <a:r>
              <a:rPr lang="en-US" sz="4350" b="1" dirty="0">
                <a:solidFill>
                  <a:srgbClr val="9998FF"/>
                </a:solidFill>
                <a:latin typeface="Barlow Bold" pitchFamily="34" charset="0"/>
                <a:ea typeface="Barlow Bold" pitchFamily="34" charset="-122"/>
                <a:cs typeface="Barlow Bold" pitchFamily="34" charset="-120"/>
              </a:rPr>
              <a:t>Răspunsuri și Reziliență Viitoare</a:t>
            </a:r>
            <a:endParaRPr lang="en-US" sz="4350" dirty="0"/>
          </a:p>
        </p:txBody>
      </p:sp>
      <p:sp>
        <p:nvSpPr>
          <p:cNvPr id="3" name="Shape 1"/>
          <p:cNvSpPr/>
          <p:nvPr/>
        </p:nvSpPr>
        <p:spPr>
          <a:xfrm>
            <a:off x="740450" y="2335292"/>
            <a:ext cx="4171593" cy="211455"/>
          </a:xfrm>
          <a:prstGeom prst="roundRect">
            <a:avLst>
              <a:gd name="adj" fmla="val 90048"/>
            </a:avLst>
          </a:prstGeom>
          <a:solidFill>
            <a:srgbClr val="282C32"/>
          </a:solidFill>
          <a:ln/>
          <a:effectLst>
            <a:outerShdw sx="100000" sy="100000" kx="0" ky="0" algn="bl" rotWithShape="0" blurRad="52070" dist="25400" dir="13500000">
              <a:srgbClr val="ffffff">
                <a:alpha val="10000"/>
              </a:srgbClr>
            </a:outerShdw>
          </a:effectLst>
        </p:spPr>
      </p:sp>
      <p:sp>
        <p:nvSpPr>
          <p:cNvPr id="4" name="Text 2"/>
          <p:cNvSpPr/>
          <p:nvPr/>
        </p:nvSpPr>
        <p:spPr>
          <a:xfrm>
            <a:off x="740450" y="2864048"/>
            <a:ext cx="4171593" cy="695801"/>
          </a:xfrm>
          <a:prstGeom prst="rect">
            <a:avLst/>
          </a:prstGeom>
          <a:noFill/>
          <a:ln/>
        </p:spPr>
        <p:txBody>
          <a:bodyPr wrap="square" lIns="0" tIns="0" rIns="0" bIns="0" rtlCol="0" anchor="t"/>
          <a:lstStyle/>
          <a:p>
            <a:pPr algn="l" indent="0" marL="0">
              <a:lnSpc>
                <a:spcPts val="2700"/>
              </a:lnSpc>
              <a:buNone/>
            </a:pPr>
            <a:r>
              <a:rPr lang="en-US" sz="2150" b="1" dirty="0">
                <a:solidFill>
                  <a:srgbClr val="EEEFF5"/>
                </a:solidFill>
                <a:latin typeface="Barlow Bold" pitchFamily="34" charset="0"/>
                <a:ea typeface="Barlow Bold" pitchFamily="34" charset="-122"/>
                <a:cs typeface="Barlow Bold" pitchFamily="34" charset="-120"/>
              </a:rPr>
              <a:t>Instituții de management al riscului</a:t>
            </a:r>
            <a:endParaRPr lang="en-US" sz="2150" dirty="0"/>
          </a:p>
        </p:txBody>
      </p:sp>
      <p:sp>
        <p:nvSpPr>
          <p:cNvPr id="5" name="Text 3"/>
          <p:cNvSpPr/>
          <p:nvPr/>
        </p:nvSpPr>
        <p:spPr>
          <a:xfrm>
            <a:off x="740450" y="3686770"/>
            <a:ext cx="4171593" cy="2707958"/>
          </a:xfrm>
          <a:prstGeom prst="rect">
            <a:avLst/>
          </a:prstGeom>
          <a:noFill/>
          <a:ln/>
        </p:spPr>
        <p:txBody>
          <a:bodyPr wrap="square" lIns="0" tIns="0" rIns="0" bIns="0" rtlCol="0" anchor="t"/>
          <a:lstStyle/>
          <a:p>
            <a:pPr algn="l" indent="0" marL="0">
              <a:lnSpc>
                <a:spcPts val="2650"/>
              </a:lnSpc>
              <a:buNone/>
            </a:pPr>
            <a:r>
              <a:rPr lang="en-US" sz="1650" dirty="0">
                <a:solidFill>
                  <a:srgbClr val="EEEFF5"/>
                </a:solidFill>
                <a:latin typeface="Montserrat" pitchFamily="34" charset="0"/>
                <a:ea typeface="Montserrat" pitchFamily="34" charset="-122"/>
                <a:cs typeface="Montserrat" pitchFamily="34" charset="-120"/>
              </a:rPr>
              <a:t>Există o tranziție către crearea și consolidarea instituțiilor specializate în managementul riscului de dezastre. Acestea coordonează eforturile de pregătire, răspuns și recuperare în fața hazardurilor naturale, integrând expertiza științifică cu capacitățile operaționale.</a:t>
            </a:r>
            <a:endParaRPr lang="en-US" sz="1650" dirty="0"/>
          </a:p>
        </p:txBody>
      </p:sp>
      <p:sp>
        <p:nvSpPr>
          <p:cNvPr id="6" name="Shape 4"/>
          <p:cNvSpPr/>
          <p:nvPr/>
        </p:nvSpPr>
        <p:spPr>
          <a:xfrm>
            <a:off x="5229344" y="2017990"/>
            <a:ext cx="4171593" cy="211455"/>
          </a:xfrm>
          <a:prstGeom prst="roundRect">
            <a:avLst>
              <a:gd name="adj" fmla="val 90048"/>
            </a:avLst>
          </a:prstGeom>
          <a:solidFill>
            <a:srgbClr val="282C32"/>
          </a:solidFill>
          <a:ln/>
          <a:effectLst>
            <a:outerShdw sx="100000" sy="100000" kx="0" ky="0" algn="bl" rotWithShape="0" blurRad="52070" dist="25400" dir="13500000">
              <a:srgbClr val="ffffff">
                <a:alpha val="10000"/>
              </a:srgbClr>
            </a:outerShdw>
          </a:effectLst>
        </p:spPr>
      </p:sp>
      <p:sp>
        <p:nvSpPr>
          <p:cNvPr id="7" name="Text 5"/>
          <p:cNvSpPr/>
          <p:nvPr/>
        </p:nvSpPr>
        <p:spPr>
          <a:xfrm>
            <a:off x="5229344" y="2546747"/>
            <a:ext cx="3784759" cy="347901"/>
          </a:xfrm>
          <a:prstGeom prst="rect">
            <a:avLst/>
          </a:prstGeom>
          <a:noFill/>
          <a:ln/>
        </p:spPr>
        <p:txBody>
          <a:bodyPr wrap="none" lIns="0" tIns="0" rIns="0" bIns="0" rtlCol="0" anchor="t"/>
          <a:lstStyle/>
          <a:p>
            <a:pPr algn="l" indent="0" marL="0">
              <a:lnSpc>
                <a:spcPts val="2700"/>
              </a:lnSpc>
              <a:buNone/>
            </a:pPr>
            <a:r>
              <a:rPr lang="en-US" sz="2150" b="1" dirty="0">
                <a:solidFill>
                  <a:srgbClr val="EEEFF5"/>
                </a:solidFill>
                <a:latin typeface="Barlow Bold" pitchFamily="34" charset="0"/>
                <a:ea typeface="Barlow Bold" pitchFamily="34" charset="-122"/>
                <a:cs typeface="Barlow Bold" pitchFamily="34" charset="-120"/>
              </a:rPr>
              <a:t>Sisteme de avertizare timpurie</a:t>
            </a:r>
            <a:endParaRPr lang="en-US" sz="2150" dirty="0"/>
          </a:p>
        </p:txBody>
      </p:sp>
      <p:sp>
        <p:nvSpPr>
          <p:cNvPr id="8" name="Text 6"/>
          <p:cNvSpPr/>
          <p:nvPr/>
        </p:nvSpPr>
        <p:spPr>
          <a:xfrm>
            <a:off x="5229344" y="3021568"/>
            <a:ext cx="4171593" cy="2707958"/>
          </a:xfrm>
          <a:prstGeom prst="rect">
            <a:avLst/>
          </a:prstGeom>
          <a:noFill/>
          <a:ln/>
        </p:spPr>
        <p:txBody>
          <a:bodyPr wrap="square" lIns="0" tIns="0" rIns="0" bIns="0" rtlCol="0" anchor="t"/>
          <a:lstStyle/>
          <a:p>
            <a:pPr algn="l" indent="0" marL="0">
              <a:lnSpc>
                <a:spcPts val="2650"/>
              </a:lnSpc>
              <a:buNone/>
            </a:pPr>
            <a:r>
              <a:rPr lang="en-US" sz="1650" dirty="0">
                <a:solidFill>
                  <a:srgbClr val="EEEFF5"/>
                </a:solidFill>
                <a:latin typeface="Montserrat" pitchFamily="34" charset="0"/>
                <a:ea typeface="Montserrat" pitchFamily="34" charset="-122"/>
                <a:cs typeface="Montserrat" pitchFamily="34" charset="-120"/>
              </a:rPr>
              <a:t>Implementarea sistemelor de avertizare timpurie reprezintă o prioritate pentru multe țări din regiune. Aceste sisteme utilizează tehnologii avansate pentru a detecta și comunica amenințările iminente, permițând evacuări și măsuri preventive care salvează vieți.</a:t>
            </a:r>
            <a:endParaRPr lang="en-US" sz="1650" dirty="0"/>
          </a:p>
        </p:txBody>
      </p:sp>
      <p:sp>
        <p:nvSpPr>
          <p:cNvPr id="9" name="Shape 7"/>
          <p:cNvSpPr/>
          <p:nvPr/>
        </p:nvSpPr>
        <p:spPr>
          <a:xfrm>
            <a:off x="9718238" y="1700689"/>
            <a:ext cx="4171593" cy="211455"/>
          </a:xfrm>
          <a:prstGeom prst="roundRect">
            <a:avLst>
              <a:gd name="adj" fmla="val 90048"/>
            </a:avLst>
          </a:prstGeom>
          <a:solidFill>
            <a:srgbClr val="282C32"/>
          </a:solidFill>
          <a:ln/>
          <a:effectLst>
            <a:outerShdw sx="100000" sy="100000" kx="0" ky="0" algn="bl" rotWithShape="0" blurRad="52070" dist="25400" dir="13500000">
              <a:srgbClr val="ffffff">
                <a:alpha val="10000"/>
              </a:srgbClr>
            </a:outerShdw>
          </a:effectLst>
        </p:spPr>
      </p:sp>
      <p:sp>
        <p:nvSpPr>
          <p:cNvPr id="10" name="Text 8"/>
          <p:cNvSpPr/>
          <p:nvPr/>
        </p:nvSpPr>
        <p:spPr>
          <a:xfrm>
            <a:off x="9718238" y="2229445"/>
            <a:ext cx="2783800" cy="347901"/>
          </a:xfrm>
          <a:prstGeom prst="rect">
            <a:avLst/>
          </a:prstGeom>
          <a:noFill/>
          <a:ln/>
        </p:spPr>
        <p:txBody>
          <a:bodyPr wrap="none" lIns="0" tIns="0" rIns="0" bIns="0" rtlCol="0" anchor="t"/>
          <a:lstStyle/>
          <a:p>
            <a:pPr algn="l" indent="0" marL="0">
              <a:lnSpc>
                <a:spcPts val="2700"/>
              </a:lnSpc>
              <a:buNone/>
            </a:pPr>
            <a:r>
              <a:rPr lang="en-US" sz="2150" b="1" dirty="0">
                <a:solidFill>
                  <a:srgbClr val="EEEFF5"/>
                </a:solidFill>
                <a:latin typeface="Barlow Bold" pitchFamily="34" charset="0"/>
                <a:ea typeface="Barlow Bold" pitchFamily="34" charset="-122"/>
                <a:cs typeface="Barlow Bold" pitchFamily="34" charset="-120"/>
              </a:rPr>
              <a:t>Abordări integrate</a:t>
            </a:r>
            <a:endParaRPr lang="en-US" sz="2150" dirty="0"/>
          </a:p>
        </p:txBody>
      </p:sp>
      <p:sp>
        <p:nvSpPr>
          <p:cNvPr id="11" name="Text 9"/>
          <p:cNvSpPr/>
          <p:nvPr/>
        </p:nvSpPr>
        <p:spPr>
          <a:xfrm>
            <a:off x="9718238" y="2704267"/>
            <a:ext cx="4171593" cy="3046452"/>
          </a:xfrm>
          <a:prstGeom prst="rect">
            <a:avLst/>
          </a:prstGeom>
          <a:noFill/>
          <a:ln/>
        </p:spPr>
        <p:txBody>
          <a:bodyPr wrap="square" lIns="0" tIns="0" rIns="0" bIns="0" rtlCol="0" anchor="t"/>
          <a:lstStyle/>
          <a:p>
            <a:pPr algn="l" indent="0" marL="0">
              <a:lnSpc>
                <a:spcPts val="2650"/>
              </a:lnSpc>
              <a:buNone/>
            </a:pPr>
            <a:r>
              <a:rPr lang="en-US" sz="1650" dirty="0">
                <a:solidFill>
                  <a:srgbClr val="EEEFF5"/>
                </a:solidFill>
                <a:latin typeface="Montserrat" pitchFamily="34" charset="0"/>
                <a:ea typeface="Montserrat" pitchFamily="34" charset="-122"/>
                <a:cs typeface="Montserrat" pitchFamily="34" charset="-120"/>
              </a:rPr>
              <a:t>Se pune accent pe reforma politicilor publice, creșterea rezilienței și abordările integrate care includ planificarea urbană, gestionarea resurselor naturale și adaptarea la schimbările climatice. Aceste strategii vizează pregătirea populațiilor și infrastructurii pentru un viitor marcat de incertitudine și șocuri multiple.</a:t>
            </a:r>
            <a:endParaRPr lang="en-US" sz="1650" dirty="0"/>
          </a:p>
        </p:txBody>
      </p:sp>
      <p:sp>
        <p:nvSpPr>
          <p:cNvPr id="12" name="Text 10"/>
          <p:cNvSpPr/>
          <p:nvPr/>
        </p:nvSpPr>
        <p:spPr>
          <a:xfrm>
            <a:off x="740450" y="6632734"/>
            <a:ext cx="13149501" cy="1015484"/>
          </a:xfrm>
          <a:prstGeom prst="rect">
            <a:avLst/>
          </a:prstGeom>
          <a:noFill/>
          <a:ln/>
        </p:spPr>
        <p:txBody>
          <a:bodyPr wrap="square" lIns="0" tIns="0" rIns="0" bIns="0" rtlCol="0" anchor="t"/>
          <a:lstStyle/>
          <a:p>
            <a:pPr algn="l" indent="0" marL="0">
              <a:lnSpc>
                <a:spcPts val="2650"/>
              </a:lnSpc>
              <a:buNone/>
            </a:pPr>
            <a:r>
              <a:rPr lang="en-US" sz="1650" dirty="0">
                <a:solidFill>
                  <a:srgbClr val="EEEFF5"/>
                </a:solidFill>
                <a:latin typeface="Montserrat" pitchFamily="34" charset="0"/>
                <a:ea typeface="Montserrat" pitchFamily="34" charset="-122"/>
                <a:cs typeface="Montserrat" pitchFamily="34" charset="-120"/>
              </a:rPr>
              <a:t>Deși provocările sunt imense, există inițiative promițătoare care vizează creșterea rezilienței comunităților din Orientul Mijlociu în fața hazardurilor naturale. Cooperarea internațională, transferul de tehnologie și consolidarea capacităților locale reprezintă elemente esențiale pentru construirea unui viitor mai sigur și mai sustenabil pentru populația regiunii.</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2025-06-02T07:43:43Z</dcterms:created>
  <dcterms:modified xsi:type="dcterms:W3CDTF">2025-06-02T07:43:43Z</dcterms:modified>
</cp:coreProperties>
</file>